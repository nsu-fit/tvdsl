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42"/>
  </p:notesMasterIdLst>
  <p:sldIdLst>
    <p:sldId id="256" r:id="rId2"/>
    <p:sldId id="294" r:id="rId3"/>
    <p:sldId id="412" r:id="rId4"/>
    <p:sldId id="449" r:id="rId5"/>
    <p:sldId id="450" r:id="rId6"/>
    <p:sldId id="452" r:id="rId7"/>
    <p:sldId id="462" r:id="rId8"/>
    <p:sldId id="453" r:id="rId9"/>
    <p:sldId id="454" r:id="rId10"/>
    <p:sldId id="487" r:id="rId11"/>
    <p:sldId id="457" r:id="rId12"/>
    <p:sldId id="458" r:id="rId13"/>
    <p:sldId id="456" r:id="rId14"/>
    <p:sldId id="459" r:id="rId15"/>
    <p:sldId id="460" r:id="rId16"/>
    <p:sldId id="461" r:id="rId17"/>
    <p:sldId id="463" r:id="rId18"/>
    <p:sldId id="464" r:id="rId19"/>
    <p:sldId id="465" r:id="rId20"/>
    <p:sldId id="466" r:id="rId21"/>
    <p:sldId id="467" r:id="rId22"/>
    <p:sldId id="468" r:id="rId23"/>
    <p:sldId id="469" r:id="rId24"/>
    <p:sldId id="470" r:id="rId25"/>
    <p:sldId id="471" r:id="rId26"/>
    <p:sldId id="472" r:id="rId27"/>
    <p:sldId id="473" r:id="rId28"/>
    <p:sldId id="474" r:id="rId29"/>
    <p:sldId id="475" r:id="rId30"/>
    <p:sldId id="476" r:id="rId31"/>
    <p:sldId id="477" r:id="rId32"/>
    <p:sldId id="478" r:id="rId33"/>
    <p:sldId id="479" r:id="rId34"/>
    <p:sldId id="480" r:id="rId35"/>
    <p:sldId id="481" r:id="rId36"/>
    <p:sldId id="482" r:id="rId37"/>
    <p:sldId id="483" r:id="rId38"/>
    <p:sldId id="484" r:id="rId39"/>
    <p:sldId id="485" r:id="rId40"/>
    <p:sldId id="486" r:id="rId41"/>
  </p:sldIdLst>
  <p:sldSz cx="9144000" cy="5143500" type="screen16x9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03" autoAdjust="0"/>
  </p:normalViewPr>
  <p:slideViewPr>
    <p:cSldViewPr>
      <p:cViewPr varScale="1">
        <p:scale>
          <a:sx n="136" d="100"/>
          <a:sy n="136" d="100"/>
        </p:scale>
        <p:origin x="816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57F37-7557-4B95-BD83-F914B9DF6C02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26910-2691-45C8-9D4E-CC898081CAC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2412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2503170"/>
            <a:ext cx="6480048" cy="172593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158609"/>
            <a:ext cx="6480048" cy="131445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687878"/>
            <a:ext cx="6629400" cy="1369772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1864350"/>
            <a:ext cx="6629400" cy="800016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26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4114800"/>
            <a:ext cx="4040188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4114800"/>
            <a:ext cx="4041775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137685"/>
            <a:ext cx="4040188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137685"/>
            <a:ext cx="4041775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7470648" cy="85725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889146"/>
            <a:ext cx="3200400" cy="547688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60818"/>
            <a:ext cx="2743200" cy="6858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70866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4816548"/>
            <a:ext cx="762000" cy="2738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279282"/>
            <a:ext cx="3053868" cy="940356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dirty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249074"/>
            <a:ext cx="3053866" cy="199761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816548"/>
            <a:ext cx="2133600" cy="273844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7467120" cy="85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7467120" cy="339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7467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4816548"/>
            <a:ext cx="2133600" cy="273844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4816548"/>
            <a:ext cx="2895600" cy="273844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4816548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ivm@iis.nsk.su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nsu-fit/TVDS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jasmin.sourceforge.net/" TargetMode="External"/><Relationship Id="rId2" Type="http://schemas.openxmlformats.org/officeDocument/2006/relationships/hyperlink" Target="https://asm.ow2.io/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0" y="360214"/>
            <a:ext cx="9143640" cy="170748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>
            <a:normAutofit fontScale="925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Трансляция</a:t>
            </a:r>
            <a:r>
              <a:rPr lang="en-US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 </a:t>
            </a:r>
            <a:r>
              <a:rPr lang="ru-RU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И Верификация</a:t>
            </a:r>
            <a:br>
              <a:rPr lang="en-US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</a:br>
            <a:r>
              <a:rPr lang="ru-RU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предметно-ориентированных языков</a:t>
            </a:r>
            <a:endParaRPr lang="ru-RU" sz="4600" b="0" strike="noStrike" spc="-1" dirty="0">
              <a:ln w="4953">
                <a:solidFill>
                  <a:schemeClr val="accent1">
                    <a:tint val="80000"/>
                    <a:shade val="99000"/>
                    <a:satMod val="500000"/>
                  </a:schemeClr>
                </a:solidFill>
              </a:ln>
              <a:gradFill>
                <a:gsLst>
                  <a:gs pos="0">
                    <a:schemeClr val="accent1">
                      <a:tint val="63000"/>
                      <a:satMod val="255000"/>
                    </a:schemeClr>
                  </a:gs>
                  <a:gs pos="9000">
                    <a:schemeClr val="accent1">
                      <a:tint val="63000"/>
                      <a:satMod val="255000"/>
                    </a:schemeClr>
                  </a:gs>
                  <a:gs pos="53000">
                    <a:schemeClr val="accent1">
                      <a:shade val="60000"/>
                      <a:satMod val="100000"/>
                    </a:schemeClr>
                  </a:gs>
                  <a:gs pos="90000">
                    <a:schemeClr val="accent1">
                      <a:tint val="63000"/>
                      <a:satMod val="255000"/>
                    </a:schemeClr>
                  </a:gs>
                  <a:gs pos="100000">
                    <a:schemeClr val="accent1">
                      <a:tint val="63000"/>
                      <a:satMod val="255000"/>
                    </a:schemeClr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3995936" y="1707480"/>
            <a:ext cx="5040064" cy="2736360"/>
          </a:xfrm>
          <a:prstGeom prst="rect">
            <a:avLst/>
          </a:prstGeom>
          <a:noFill/>
          <a:ln>
            <a:noFill/>
          </a:ln>
        </p:spPr>
        <p:txBody>
          <a:bodyPr lIns="90000" tIns="0" rIns="45720" bIns="0">
            <a:normAutofit/>
          </a:bodyPr>
          <a:lstStyle/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Лекция </a:t>
            </a:r>
            <a:r>
              <a:rPr lang="ru-RU" sz="1500" spc="-1" dirty="0">
                <a:solidFill>
                  <a:srgbClr val="FFFFFF"/>
                </a:solidFill>
                <a:latin typeface="Arial"/>
              </a:rPr>
              <a:t>7</a:t>
            </a: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.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spc="-1" dirty="0">
                <a:solidFill>
                  <a:srgbClr val="FFFFFF"/>
                </a:solidFill>
                <a:latin typeface="Arial"/>
              </a:rPr>
              <a:t>Порождение целевого кода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Марьясов Илья Владимирович,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доцент, к. ф.-м. н., н. с. лаборатории теоретического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программирования ИСИ СО РАН им. А. П. Ершова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FFFFFF"/>
                </a:solidFill>
                <a:latin typeface="Arial"/>
              </a:rPr>
              <a:t>E-mail: </a:t>
            </a:r>
            <a:r>
              <a:rPr lang="en-US" sz="1500" b="0" u="sng" strike="noStrike" spc="-1" dirty="0">
                <a:solidFill>
                  <a:srgbClr val="00C8C3"/>
                </a:solidFill>
                <a:uFillTx/>
                <a:latin typeface="Arial"/>
                <a:hlinkClick r:id="rId2"/>
              </a:rPr>
              <a:t>ivm@iis.nsk.su</a:t>
            </a:r>
            <a:endParaRPr lang="ru-RU" sz="1500" b="0" u="sng" strike="noStrike" spc="-1" dirty="0">
              <a:solidFill>
                <a:srgbClr val="00C8C3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З</a:t>
            </a:r>
            <a:r>
              <a:rPr lang="ru-RU" sz="1500" spc="-1" dirty="0">
                <a:solidFill>
                  <a:srgbClr val="FFFFFF"/>
                </a:solidFill>
                <a:latin typeface="Arial"/>
              </a:rPr>
              <a:t>лыгостев Антон Игоревич</a:t>
            </a: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,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доцент, индустриальный профессор НГУ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FFFFFF"/>
                </a:solidFill>
                <a:latin typeface="Arial"/>
              </a:rPr>
              <a:t>E-mail: </a:t>
            </a:r>
            <a:r>
              <a:rPr lang="en-US" sz="1500" b="0" u="sng" strike="noStrike" spc="-1" dirty="0">
                <a:solidFill>
                  <a:srgbClr val="00C8C3"/>
                </a:solidFill>
                <a:uFillTx/>
                <a:latin typeface="Arial"/>
              </a:rPr>
              <a:t>a.zlygostev@g.nsu.ru</a:t>
            </a:r>
            <a:endParaRPr lang="ru-RU" sz="1500" b="0" strike="noStrike" spc="-1" dirty="0"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0" y="4443840"/>
            <a:ext cx="9143640" cy="699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4572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FFFFFF"/>
                </a:solidFill>
                <a:latin typeface="Arial"/>
              </a:rPr>
              <a:t>Новосибирский государственный университет, 2026</a:t>
            </a:r>
            <a:endParaRPr lang="ru-RU" sz="2800" b="0" strike="noStrike" spc="-1" dirty="0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64C295-E9EF-9F36-1141-73B0288BE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32" y="1995686"/>
            <a:ext cx="1985392" cy="19853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4D990A-72D7-0A0D-C332-0D1095BF8167}"/>
              </a:ext>
            </a:extLst>
          </p:cNvPr>
          <p:cNvSpPr txBox="1"/>
          <p:nvPr/>
        </p:nvSpPr>
        <p:spPr>
          <a:xfrm>
            <a:off x="244199" y="4074508"/>
            <a:ext cx="3535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4"/>
              </a:rPr>
              <a:t>https://github.com/nsu-fit/TVDSL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Представления программы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CECCABC-21AE-997A-8132-DFC66E351426}"/>
              </a:ext>
            </a:extLst>
          </p:cNvPr>
          <p:cNvGrpSpPr/>
          <p:nvPr/>
        </p:nvGrpSpPr>
        <p:grpSpPr>
          <a:xfrm>
            <a:off x="209112" y="1491630"/>
            <a:ext cx="8732121" cy="2623746"/>
            <a:chOff x="232239" y="1532180"/>
            <a:chExt cx="8732121" cy="2623746"/>
          </a:xfrm>
        </p:grpSpPr>
        <p:sp>
          <p:nvSpPr>
            <p:cNvPr id="6" name="Блок-схема: процесс 5">
              <a:extLst>
                <a:ext uri="{FF2B5EF4-FFF2-40B4-BE49-F238E27FC236}">
                  <a16:creationId xmlns:a16="http://schemas.microsoft.com/office/drawing/2014/main" id="{6A86AA20-8ADB-EC0A-08CD-EBE52CA48FF9}"/>
                </a:ext>
              </a:extLst>
            </p:cNvPr>
            <p:cNvSpPr/>
            <p:nvPr/>
          </p:nvSpPr>
          <p:spPr>
            <a:xfrm>
              <a:off x="232239" y="1532180"/>
              <a:ext cx="1340275" cy="731686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Исходный текст</a:t>
              </a:r>
            </a:p>
          </p:txBody>
        </p:sp>
        <p:sp>
          <p:nvSpPr>
            <p:cNvPr id="7" name="Блок-схема: процесс 6">
              <a:extLst>
                <a:ext uri="{FF2B5EF4-FFF2-40B4-BE49-F238E27FC236}">
                  <a16:creationId xmlns:a16="http://schemas.microsoft.com/office/drawing/2014/main" id="{A6A93B90-9633-C1DF-223C-96B96FA8360D}"/>
                </a:ext>
              </a:extLst>
            </p:cNvPr>
            <p:cNvSpPr/>
            <p:nvPr/>
          </p:nvSpPr>
          <p:spPr>
            <a:xfrm>
              <a:off x="1540702" y="3362231"/>
              <a:ext cx="1080120" cy="79369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Поток</a:t>
              </a:r>
            </a:p>
            <a:p>
              <a:pPr algn="ctr"/>
              <a:r>
                <a:rPr lang="ru-RU" dirty="0"/>
                <a:t>токенов</a:t>
              </a:r>
            </a:p>
          </p:txBody>
        </p:sp>
        <p:sp>
          <p:nvSpPr>
            <p:cNvPr id="9" name="Стрелка: вправо 8">
              <a:extLst>
                <a:ext uri="{FF2B5EF4-FFF2-40B4-BE49-F238E27FC236}">
                  <a16:creationId xmlns:a16="http://schemas.microsoft.com/office/drawing/2014/main" id="{AFB6FCC8-C1C5-AFE6-E8F2-65C6E5BFEAA6}"/>
                </a:ext>
              </a:extLst>
            </p:cNvPr>
            <p:cNvSpPr/>
            <p:nvPr/>
          </p:nvSpPr>
          <p:spPr>
            <a:xfrm rot="4174755">
              <a:off x="995780" y="2699769"/>
              <a:ext cx="1100751" cy="2080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" name="Блок-схема: процесс 1">
              <a:extLst>
                <a:ext uri="{FF2B5EF4-FFF2-40B4-BE49-F238E27FC236}">
                  <a16:creationId xmlns:a16="http://schemas.microsoft.com/office/drawing/2014/main" id="{E866907D-2F2D-1471-6700-FFF2EE9D7404}"/>
                </a:ext>
              </a:extLst>
            </p:cNvPr>
            <p:cNvSpPr/>
            <p:nvPr/>
          </p:nvSpPr>
          <p:spPr>
            <a:xfrm>
              <a:off x="2620822" y="1532180"/>
              <a:ext cx="799050" cy="731686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AST</a:t>
              </a:r>
              <a:endParaRPr lang="ru-RU" dirty="0"/>
            </a:p>
          </p:txBody>
        </p:sp>
        <p:sp>
          <p:nvSpPr>
            <p:cNvPr id="3" name="Блок-схема: процесс 2">
              <a:extLst>
                <a:ext uri="{FF2B5EF4-FFF2-40B4-BE49-F238E27FC236}">
                  <a16:creationId xmlns:a16="http://schemas.microsoft.com/office/drawing/2014/main" id="{E962237F-D94D-5DAE-A0FA-E925677D318F}"/>
                </a:ext>
              </a:extLst>
            </p:cNvPr>
            <p:cNvSpPr/>
            <p:nvPr/>
          </p:nvSpPr>
          <p:spPr>
            <a:xfrm>
              <a:off x="3419872" y="3362232"/>
              <a:ext cx="2013419" cy="79369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Аннотированное</a:t>
              </a:r>
              <a:endParaRPr lang="en-US" dirty="0"/>
            </a:p>
            <a:p>
              <a:pPr algn="ctr"/>
              <a:r>
                <a:rPr lang="en-US" dirty="0"/>
                <a:t>AST</a:t>
              </a:r>
              <a:endParaRPr lang="ru-RU" dirty="0"/>
            </a:p>
          </p:txBody>
        </p:sp>
        <p:sp>
          <p:nvSpPr>
            <p:cNvPr id="4" name="Блок-схема: процесс 3">
              <a:extLst>
                <a:ext uri="{FF2B5EF4-FFF2-40B4-BE49-F238E27FC236}">
                  <a16:creationId xmlns:a16="http://schemas.microsoft.com/office/drawing/2014/main" id="{0F3219E9-CA5A-5F51-9DED-4028AE38B600}"/>
                </a:ext>
              </a:extLst>
            </p:cNvPr>
            <p:cNvSpPr/>
            <p:nvPr/>
          </p:nvSpPr>
          <p:spPr>
            <a:xfrm>
              <a:off x="5433291" y="1532180"/>
              <a:ext cx="2094630" cy="79369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Промежуточное</a:t>
              </a:r>
            </a:p>
            <a:p>
              <a:pPr algn="ctr"/>
              <a:r>
                <a:rPr lang="ru-RU" dirty="0"/>
                <a:t>представление</a:t>
              </a:r>
            </a:p>
          </p:txBody>
        </p:sp>
        <p:sp>
          <p:nvSpPr>
            <p:cNvPr id="5" name="Блок-схема: процесс 4">
              <a:extLst>
                <a:ext uri="{FF2B5EF4-FFF2-40B4-BE49-F238E27FC236}">
                  <a16:creationId xmlns:a16="http://schemas.microsoft.com/office/drawing/2014/main" id="{F4FC33AC-8326-7670-9603-8BB04DB1E65D}"/>
                </a:ext>
              </a:extLst>
            </p:cNvPr>
            <p:cNvSpPr/>
            <p:nvPr/>
          </p:nvSpPr>
          <p:spPr>
            <a:xfrm>
              <a:off x="7515747" y="3357914"/>
              <a:ext cx="1143744" cy="79369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Целевой</a:t>
              </a:r>
            </a:p>
            <a:p>
              <a:pPr algn="ctr"/>
              <a:r>
                <a:rPr lang="ru-RU" dirty="0"/>
                <a:t>код</a:t>
              </a:r>
            </a:p>
          </p:txBody>
        </p:sp>
        <p:sp>
          <p:nvSpPr>
            <p:cNvPr id="10" name="Стрелка: вправо 9">
              <a:extLst>
                <a:ext uri="{FF2B5EF4-FFF2-40B4-BE49-F238E27FC236}">
                  <a16:creationId xmlns:a16="http://schemas.microsoft.com/office/drawing/2014/main" id="{CA8FA9CA-15C3-34FA-1186-3F29524F2064}"/>
                </a:ext>
              </a:extLst>
            </p:cNvPr>
            <p:cNvSpPr/>
            <p:nvPr/>
          </p:nvSpPr>
          <p:spPr>
            <a:xfrm rot="4174755">
              <a:off x="3084117" y="2706960"/>
              <a:ext cx="1100751" cy="2080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Стрелка: вправо 16">
              <a:extLst>
                <a:ext uri="{FF2B5EF4-FFF2-40B4-BE49-F238E27FC236}">
                  <a16:creationId xmlns:a16="http://schemas.microsoft.com/office/drawing/2014/main" id="{C8BC9011-F6B7-755A-B1C6-47E63D7C33D7}"/>
                </a:ext>
              </a:extLst>
            </p:cNvPr>
            <p:cNvSpPr/>
            <p:nvPr/>
          </p:nvSpPr>
          <p:spPr>
            <a:xfrm rot="4174755">
              <a:off x="7189432" y="2737849"/>
              <a:ext cx="1100751" cy="2080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Стрелка: вправо 17">
              <a:extLst>
                <a:ext uri="{FF2B5EF4-FFF2-40B4-BE49-F238E27FC236}">
                  <a16:creationId xmlns:a16="http://schemas.microsoft.com/office/drawing/2014/main" id="{B93F0AF5-D6A1-0061-E34F-3BB891624DB4}"/>
                </a:ext>
              </a:extLst>
            </p:cNvPr>
            <p:cNvSpPr/>
            <p:nvPr/>
          </p:nvSpPr>
          <p:spPr>
            <a:xfrm rot="17820866">
              <a:off x="1973659" y="2685263"/>
              <a:ext cx="1100751" cy="2080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9" name="Стрелка: вправо 18">
              <a:extLst>
                <a:ext uri="{FF2B5EF4-FFF2-40B4-BE49-F238E27FC236}">
                  <a16:creationId xmlns:a16="http://schemas.microsoft.com/office/drawing/2014/main" id="{EC79C7C6-EAAB-049E-A51F-A497C0C6E6C4}"/>
                </a:ext>
              </a:extLst>
            </p:cNvPr>
            <p:cNvSpPr/>
            <p:nvPr/>
          </p:nvSpPr>
          <p:spPr>
            <a:xfrm rot="17820866">
              <a:off x="4948397" y="2737848"/>
              <a:ext cx="1100751" cy="2080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001A8FD-BA7E-69A7-DD16-E725B60233D7}"/>
                </a:ext>
              </a:extLst>
            </p:cNvPr>
            <p:cNvSpPr txBox="1"/>
            <p:nvPr/>
          </p:nvSpPr>
          <p:spPr>
            <a:xfrm>
              <a:off x="609442" y="2634357"/>
              <a:ext cx="9230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лексер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CC1285-A811-EB67-693E-D9C4D9FFE419}"/>
                </a:ext>
              </a:extLst>
            </p:cNvPr>
            <p:cNvSpPr txBox="1"/>
            <p:nvPr/>
          </p:nvSpPr>
          <p:spPr>
            <a:xfrm>
              <a:off x="2391033" y="2941597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парсер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DEBF611-5B23-6480-B795-A219E30E262B}"/>
                </a:ext>
              </a:extLst>
            </p:cNvPr>
            <p:cNvSpPr txBox="1"/>
            <p:nvPr/>
          </p:nvSpPr>
          <p:spPr>
            <a:xfrm>
              <a:off x="3527136" y="2385604"/>
              <a:ext cx="17988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семантический</a:t>
              </a:r>
            </a:p>
            <a:p>
              <a:pPr algn="ctr"/>
              <a:r>
                <a:rPr lang="ru-RU" dirty="0"/>
                <a:t>анализ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2FE53B-4B27-C72B-5410-4126B497CD6F}"/>
                </a:ext>
              </a:extLst>
            </p:cNvPr>
            <p:cNvSpPr txBox="1"/>
            <p:nvPr/>
          </p:nvSpPr>
          <p:spPr>
            <a:xfrm>
              <a:off x="5433288" y="2767419"/>
              <a:ext cx="1547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оптимизатор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7B13147-BEC7-DCDE-60D8-79FE9EC60593}"/>
                </a:ext>
              </a:extLst>
            </p:cNvPr>
            <p:cNvSpPr txBox="1"/>
            <p:nvPr/>
          </p:nvSpPr>
          <p:spPr>
            <a:xfrm>
              <a:off x="7703694" y="2190591"/>
              <a:ext cx="12606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выходной</a:t>
              </a:r>
            </a:p>
            <a:p>
              <a:pPr algn="ctr"/>
              <a:r>
                <a:rPr lang="ru-RU" dirty="0"/>
                <a:t>генератор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58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Цели кодогенерации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превратить промежуточное представление в исполнимый код (ASM / байт-код), сохранив семантику;</a:t>
            </a:r>
            <a:endParaRPr lang="en-US" sz="3000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учитывать ограничения платформы / ВМ (регистры, стек, формат вызовов).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6858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Вход / выход кодогенератора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Вход: оптимизированное внутреннее представление и информация о типах / символах.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Выход: последовательность инструкций целевого языка (или байт-код-модуль).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Дополнительно: таблицы символов, метаданные для компоновки / загрузки.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3094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Выбор инструкций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сопоставление шаблонов промежуточного представления с шаблонами инструкций;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для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JVM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: стековые опкоды (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iconst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iadd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imul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if_icmp*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invokestatic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);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деревья выражений: покрытие поддеревьев стековыми последовательностями.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6172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90FBD278-8FAC-F077-5045-52467D4F0455}"/>
              </a:ext>
            </a:extLst>
          </p:cNvPr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c = a + b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*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2</a:t>
            </a:r>
            <a:endParaRPr lang="pt-BR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12A0064E-4192-90C9-142D-33FA3150D3A3}"/>
              </a:ext>
            </a:extLst>
          </p:cNvPr>
          <p:cNvSpPr txBox="1"/>
          <p:nvPr/>
        </p:nvSpPr>
        <p:spPr>
          <a:xfrm>
            <a:off x="4572000" y="1203598"/>
            <a:ext cx="432048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_0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_1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iconst_2</a:t>
            </a:r>
            <a:endParaRPr lang="ru-RU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imul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iadd</a:t>
            </a:r>
            <a:endParaRPr lang="ru-RU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istore_2</a:t>
            </a:r>
          </a:p>
        </p:txBody>
      </p:sp>
    </p:spTree>
    <p:extLst>
      <p:ext uri="{BB962C8B-B14F-4D97-AF65-F5344CB8AC3E}">
        <p14:creationId xmlns:p14="http://schemas.microsoft.com/office/powerpoint/2010/main" val="1994532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90FBD278-8FAC-F077-5045-52467D4F0455}"/>
              </a:ext>
            </a:extLst>
          </p:cNvPr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&lt; y</a:t>
            </a:r>
            <a:endParaRPr lang="pt-BR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12A0064E-4192-90C9-142D-33FA3150D3A3}"/>
              </a:ext>
            </a:extLst>
          </p:cNvPr>
          <p:cNvSpPr txBox="1"/>
          <p:nvPr/>
        </p:nvSpPr>
        <p:spPr>
          <a:xfrm>
            <a:off x="4572000" y="1203598"/>
            <a:ext cx="432048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_0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_1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if_icmplt L_true</a:t>
            </a:r>
            <a:endParaRPr lang="ru-RU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goto L_false</a:t>
            </a:r>
          </a:p>
        </p:txBody>
      </p:sp>
    </p:spTree>
    <p:extLst>
      <p:ext uri="{BB962C8B-B14F-4D97-AF65-F5344CB8AC3E}">
        <p14:creationId xmlns:p14="http://schemas.microsoft.com/office/powerpoint/2010/main" val="4114571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Подходы к порождению целевого кода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аппаратная архитектура набора команд</a:t>
            </a:r>
            <a:endParaRPr lang="en-US" sz="3000" spc="-1" dirty="0">
              <a:solidFill>
                <a:srgbClr val="FFFFFF"/>
              </a:solidFill>
              <a:latin typeface="Arial"/>
            </a:endParaRPr>
          </a:p>
          <a:p>
            <a:pPr marL="493920" lvl="1"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(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ISA — Instruction Set Architecture)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: множество адресов, анализ активных переменных, распределение регистров;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виртуальная машина: стековая (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JVM, Wasm)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или регистровая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(Lua VM)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8736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Набор инструкций </a:t>
            </a:r>
            <a:r>
              <a:rPr lang="en-US" sz="4600" spc="-1" dirty="0">
                <a:solidFill>
                  <a:srgbClr val="FFFFFF"/>
                </a:solidFill>
                <a:latin typeface="Franklin Gothic Book"/>
              </a:rPr>
              <a:t>JVM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D94A70B-747E-A5B0-83C1-A082EA54C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612202"/>
              </p:ext>
            </p:extLst>
          </p:nvPr>
        </p:nvGraphicFramePr>
        <p:xfrm>
          <a:off x="179640" y="1059583"/>
          <a:ext cx="8784720" cy="3806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176">
                  <a:extLst>
                    <a:ext uri="{9D8B030D-6E8A-4147-A177-3AD203B41FA5}">
                      <a16:colId xmlns:a16="http://schemas.microsoft.com/office/drawing/2014/main" val="535816220"/>
                    </a:ext>
                  </a:extLst>
                </a:gridCol>
                <a:gridCol w="6048544">
                  <a:extLst>
                    <a:ext uri="{9D8B030D-6E8A-4147-A177-3AD203B41FA5}">
                      <a16:colId xmlns:a16="http://schemas.microsoft.com/office/drawing/2014/main" val="3856495664"/>
                    </a:ext>
                  </a:extLst>
                </a:gridCol>
              </a:tblGrid>
              <a:tr h="568020">
                <a:tc>
                  <a:txBody>
                    <a:bodyPr/>
                    <a:lstStyle/>
                    <a:p>
                      <a:r>
                        <a:rPr lang="ru-RU" sz="1900" dirty="0"/>
                        <a:t>Инструкция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900" dirty="0"/>
                        <a:t>Действие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896139"/>
                  </a:ext>
                </a:extLst>
              </a:tr>
              <a:tr h="621174">
                <a:tc>
                  <a:txBody>
                    <a:bodyPr/>
                    <a:lstStyle/>
                    <a:p>
                      <a:r>
                        <a:rPr lang="en-US" sz="1900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iconst_c</a:t>
                      </a:r>
                      <a:endParaRPr lang="en-US" sz="19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358775" indent="0"/>
                      <a:r>
                        <a:rPr lang="en-US" sz="19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 = 0, 1, …, 5</a:t>
                      </a:r>
                      <a:endParaRPr lang="ru-RU" sz="19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900" dirty="0"/>
                        <a:t>поместить константу </a:t>
                      </a:r>
                      <a:r>
                        <a:rPr lang="en-US" sz="19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</a:t>
                      </a:r>
                      <a:r>
                        <a:rPr lang="ru-RU" sz="19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ru-RU" sz="1900" dirty="0"/>
                        <a:t>в стек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619632"/>
                  </a:ext>
                </a:extLst>
              </a:tr>
              <a:tr h="5680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iload k</a:t>
                      </a:r>
                      <a:endParaRPr lang="ru-RU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900" dirty="0"/>
                        <a:t>поместить в стек значение из слота </a:t>
                      </a:r>
                      <a:r>
                        <a:rPr lang="en-US" sz="19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k</a:t>
                      </a:r>
                      <a:endParaRPr lang="ru-RU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19550"/>
                  </a:ext>
                </a:extLst>
              </a:tr>
              <a:tr h="5680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istore k</a:t>
                      </a:r>
                      <a:endParaRPr lang="ru-RU" sz="19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900" dirty="0"/>
                        <a:t>снять вершину стека и записать её в слот </a:t>
                      </a:r>
                      <a:r>
                        <a:rPr lang="en-US" sz="19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k</a:t>
                      </a:r>
                      <a:endParaRPr lang="ru-RU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687834"/>
                  </a:ext>
                </a:extLst>
              </a:tr>
              <a:tr h="8636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iadd, isub, imul, idiv</a:t>
                      </a:r>
                      <a:endParaRPr lang="ru-RU" sz="19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900" dirty="0"/>
                        <a:t>снять два верхних значения, выполнить операцию (+</a:t>
                      </a:r>
                      <a:r>
                        <a:rPr lang="en-US" sz="1900" dirty="0"/>
                        <a:t>, -, *, /)</a:t>
                      </a:r>
                      <a:r>
                        <a:rPr lang="ru-RU" sz="1900" dirty="0"/>
                        <a:t> и поместить результат на вершину стека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372825"/>
                  </a:ext>
                </a:extLst>
              </a:tr>
              <a:tr h="5680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goto L</a:t>
                      </a:r>
                      <a:endParaRPr lang="ru-RU" sz="19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900" dirty="0"/>
                        <a:t>безусловно перейти на метку </a:t>
                      </a:r>
                      <a:r>
                        <a:rPr lang="en-US" sz="19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</a:t>
                      </a:r>
                      <a:endParaRPr lang="ru-RU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18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666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Набор инструкций </a:t>
            </a:r>
            <a:r>
              <a:rPr lang="en-US" sz="4600" spc="-1" dirty="0">
                <a:solidFill>
                  <a:srgbClr val="FFFFFF"/>
                </a:solidFill>
                <a:latin typeface="Franklin Gothic Book"/>
              </a:rPr>
              <a:t>JVM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D94A70B-747E-A5B0-83C1-A082EA54C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377670"/>
              </p:ext>
            </p:extLst>
          </p:nvPr>
        </p:nvGraphicFramePr>
        <p:xfrm>
          <a:off x="179640" y="1059582"/>
          <a:ext cx="8784720" cy="3816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176">
                  <a:extLst>
                    <a:ext uri="{9D8B030D-6E8A-4147-A177-3AD203B41FA5}">
                      <a16:colId xmlns:a16="http://schemas.microsoft.com/office/drawing/2014/main" val="535816220"/>
                    </a:ext>
                  </a:extLst>
                </a:gridCol>
                <a:gridCol w="6048544">
                  <a:extLst>
                    <a:ext uri="{9D8B030D-6E8A-4147-A177-3AD203B41FA5}">
                      <a16:colId xmlns:a16="http://schemas.microsoft.com/office/drawing/2014/main" val="3856495664"/>
                    </a:ext>
                  </a:extLst>
                </a:gridCol>
              </a:tblGrid>
              <a:tr h="585307">
                <a:tc>
                  <a:txBody>
                    <a:bodyPr/>
                    <a:lstStyle/>
                    <a:p>
                      <a:r>
                        <a:rPr lang="ru-RU" sz="1600" dirty="0"/>
                        <a:t>Инструкция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Действие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896139"/>
                  </a:ext>
                </a:extLst>
              </a:tr>
              <a:tr h="5853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ifeq L</a:t>
                      </a:r>
                      <a:endParaRPr lang="ru-RU" sz="16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снять вершину стека, если это </a:t>
                      </a:r>
                      <a:r>
                        <a:rPr lang="ru-RU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r>
                        <a:rPr lang="ru-RU" sz="1600" dirty="0"/>
                        <a:t>, то перейти на </a:t>
                      </a:r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646471"/>
                  </a:ext>
                </a:extLst>
              </a:tr>
              <a:tr h="8898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if_icmp</a:t>
                      </a:r>
                      <a:r>
                        <a:rPr lang="ru-RU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*</a:t>
                      </a:r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L</a:t>
                      </a:r>
                      <a:endParaRPr lang="ru-RU" sz="16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marR="0" lvl="0" indent="3587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*</a:t>
                      </a:r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:</a:t>
                      </a:r>
                      <a:r>
                        <a:rPr lang="ru-RU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eq, ge, gt, le, lt, ne</a:t>
                      </a:r>
                      <a:endParaRPr lang="ru-RU" sz="16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снять два верхних значения, выполнить сравнение</a:t>
                      </a:r>
                      <a:r>
                        <a:rPr lang="en-US" sz="1600" dirty="0"/>
                        <a:t> (==, &gt;=, &gt;, &lt;=, &lt;, !=)</a:t>
                      </a:r>
                      <a:r>
                        <a:rPr lang="ru-RU" sz="1600" dirty="0"/>
                        <a:t>, если истина, то перейти на </a:t>
                      </a:r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278084"/>
                  </a:ext>
                </a:extLst>
              </a:tr>
              <a:tr h="5853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invokestatic m</a:t>
                      </a:r>
                      <a:endParaRPr lang="ru-RU" sz="16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вызвать статический метод по ссылке </a:t>
                      </a:r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</a:t>
                      </a:r>
                      <a:r>
                        <a:rPr lang="ru-RU" sz="1600" dirty="0"/>
                        <a:t> и поместить результат в стек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930311"/>
                  </a:ext>
                </a:extLst>
              </a:tr>
              <a:tr h="5853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ireturn</a:t>
                      </a:r>
                      <a:endParaRPr lang="ru-RU" sz="16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завершить метод возвращением вершины стека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978036"/>
                  </a:ext>
                </a:extLst>
              </a:tr>
              <a:tr h="5853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areturn</a:t>
                      </a:r>
                      <a:endParaRPr lang="ru-RU" sz="16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завершить метод возвращением значение по ссылке на вершине стека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752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441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Стек и слоты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 регистровой ВМ кодогенератор распределяет значения по регистрам.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 стековой ВМ кодогенератор вычисляет глубину операндного стека и размещает значения в слотах.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8808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Стек и локальные переменные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Для статического метода JVM слоты нумеруются с нуля.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158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5E2CB538-C9F4-3D6D-4CB1-290F8DA3378F}"/>
              </a:ext>
            </a:extLst>
          </p:cNvPr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c = a + b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*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2</a:t>
            </a:r>
            <a:endParaRPr lang="pt-BR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2DD41566-FDA8-9D91-46D4-2B3D0CCDDC4E}"/>
              </a:ext>
            </a:extLst>
          </p:cNvPr>
          <p:cNvSpPr txBox="1"/>
          <p:nvPr/>
        </p:nvSpPr>
        <p:spPr>
          <a:xfrm>
            <a:off x="4572000" y="1203598"/>
            <a:ext cx="432048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 fontScale="625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.method public static f(II)I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.limit stack 3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.limit locals 3  ; 0: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a, 1: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b, 2: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c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iload_0        ; a 	</a:t>
            </a:r>
            <a:endParaRPr lang="ru-RU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iload_1        ; b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iconst_2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imul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iadd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istore_2       ; c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iload_2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ireturn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.end method</a:t>
            </a:r>
          </a:p>
        </p:txBody>
      </p:sp>
    </p:spTree>
    <p:extLst>
      <p:ext uri="{BB962C8B-B14F-4D97-AF65-F5344CB8AC3E}">
        <p14:creationId xmlns:p14="http://schemas.microsoft.com/office/powerpoint/2010/main" val="1001319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Дисциплина стека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Код не должен пытаться снять со стека больше значений, чем там есть.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Во всех точках слияния глубина стека должна совпадать.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Типы значений на стеке должны согласовываться с ожидаемыми операциями.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4303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Дисциплина стека (учебный вариант)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Закрепить слоты за формальными параметрами.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Выделить новые слоты локальным переменным и, при необходимости, временными значениям.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Отдельно вычислять максимальную глубину стека для каждой функции.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705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Константы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маленькие целые используют короткие инструкции вида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iconst_*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более общие константы загружаются через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ldc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из константного пула;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строки, имена классов и другие объекты попадают в константный пул.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2558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Управляющие конструкции и метки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Управляющие конструкции в промежуточном представлении уже сведены к меткам и переходам, поэтому на этапе кодогенерации остаётся последовательно отобразить их в целевые ветвления.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9275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A34FEB4F-51E6-EA2A-23B8-820095F0FBF7}"/>
              </a:ext>
            </a:extLst>
          </p:cNvPr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if (x &lt; y) then &lt;block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&gt; else &lt;block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2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&gt;</a:t>
            </a:r>
            <a:endParaRPr lang="pt-BR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DD498D59-E829-E4B3-57E5-6361C7F5E9A4}"/>
              </a:ext>
            </a:extLst>
          </p:cNvPr>
          <p:cNvSpPr txBox="1"/>
          <p:nvPr/>
        </p:nvSpPr>
        <p:spPr>
          <a:xfrm>
            <a:off x="4572000" y="1203598"/>
            <a:ext cx="432048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 fontScale="92500" lnSpcReduction="1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_0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_1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if_icmplt L_then</a:t>
            </a:r>
            <a:endParaRPr lang="ru-RU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&lt;block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2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&gt;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goto L_end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L_then: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&lt;block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&gt;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L_end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64283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A34FEB4F-51E6-EA2A-23B8-820095F0FBF7}"/>
              </a:ext>
            </a:extLst>
          </p:cNvPr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while (x &lt; y)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&lt;body&gt;</a:t>
            </a:r>
            <a:endParaRPr lang="pt-BR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DD498D59-E829-E4B3-57E5-6361C7F5E9A4}"/>
              </a:ext>
            </a:extLst>
          </p:cNvPr>
          <p:cNvSpPr txBox="1"/>
          <p:nvPr/>
        </p:nvSpPr>
        <p:spPr>
          <a:xfrm>
            <a:off x="4572000" y="1203598"/>
            <a:ext cx="432048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 fontScale="850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L_while: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iload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_0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iload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_1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if_icmplt L_body</a:t>
            </a:r>
            <a:endParaRPr lang="ru-RU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	goto L_end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</a:t>
            </a: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body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&lt;body&gt;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goto L_while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L_end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489390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Обратная подстановка адресов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775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Основная трудность — адресация меток: генератору нужно вставить переход вперёд по коду, когда точное смещение помеченной инструкции ещё неизвестно.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Варианты решения: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Двухпроходная генерация, адреса вычисляются на первом проходе, на втором выполняется замена символических адресов на реальные.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Обратная подстановка, для условного перехода вставляется «заглушка», которая сохраняется в специальном списке незавершённых переходов, далее для каждой инструкции из списка подставляется реальный адрес.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6615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spc="-1" dirty="0">
                <a:solidFill>
                  <a:srgbClr val="FFFFFF"/>
                </a:solidFill>
                <a:latin typeface="Arial"/>
              </a:rPr>
              <a:t>Application binary interface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700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spc="-1" dirty="0">
                <a:solidFill>
                  <a:srgbClr val="FFFFFF"/>
                </a:solidFill>
                <a:latin typeface="Arial"/>
              </a:rPr>
              <a:t>Application binary interface (ABI) —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набор соглашений,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определяющих, как двоичные компоненты программы взаимодействуют друг с другом на низком уровне: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способ вызова функций (соглашения о вызовах);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представление данных в памяти;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формат и структуру объектных файлов;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способ передачи параметров в функции;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способ возврата значений из функций;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способ обработки исключений;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выравнивание данных в памяти;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именование символов в двоичных файлах.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3474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4800" spc="-1" dirty="0">
                <a:solidFill>
                  <a:srgbClr val="FFFFFF"/>
                </a:solidFill>
                <a:latin typeface="Arial"/>
              </a:rPr>
              <a:t>Application binary interface</a:t>
            </a:r>
            <a:r>
              <a:rPr lang="ru-RU" sz="4800" spc="-1" dirty="0">
                <a:solidFill>
                  <a:srgbClr val="FFFFFF"/>
                </a:solidFill>
                <a:latin typeface="Arial"/>
              </a:rPr>
              <a:t>: учебный вариант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lnSpcReduction="10000"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каждая функция Funny компилируется в public static метод;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параметры метода поступают через слоты;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результат к моменту </a:t>
            </a: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ireturn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или </a:t>
            </a: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areturn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должен лежать на вершине стека;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стек и слоты каждого вызова образуют кадр, создаваемый и уничтожаемый виртуальной машиной.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49000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A34FEB4F-51E6-EA2A-23B8-820095F0FBF7}"/>
              </a:ext>
            </a:extLst>
          </p:cNvPr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f(int a, int b)</a:t>
            </a:r>
            <a:endParaRPr lang="pt-BR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DD498D59-E829-E4B3-57E5-6361C7F5E9A4}"/>
              </a:ext>
            </a:extLst>
          </p:cNvPr>
          <p:cNvSpPr txBox="1"/>
          <p:nvPr/>
        </p:nvSpPr>
        <p:spPr>
          <a:xfrm>
            <a:off x="4427984" y="1203598"/>
            <a:ext cx="4464496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_0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_1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invokestatic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Module/f(II)I</a:t>
            </a:r>
          </a:p>
        </p:txBody>
      </p:sp>
    </p:spTree>
    <p:extLst>
      <p:ext uri="{BB962C8B-B14F-4D97-AF65-F5344CB8AC3E}">
        <p14:creationId xmlns:p14="http://schemas.microsoft.com/office/powerpoint/2010/main" val="980177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Массивы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Массивы в Funny ведут себя функционально: обновление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a[i] = v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не изменяет объект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массива на месте, а создаёт новое значение массива. Поэтому проектный генератор кода не должен порождать прямую модификацию содержимого JVM-массива как основную семантику.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9589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Массивы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Чтение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a[i]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— вызов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ImmutableIntArray.get(I)I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  <a:endParaRPr lang="en-US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Обновление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a[i] = v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— вызов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 = a.with(i, v)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length(a)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— вызов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ImmutableIntArray.length()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  <a:endParaRPr lang="en-US" sz="3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908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Массивы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A34FEB4F-51E6-EA2A-23B8-820095F0FBF7}"/>
              </a:ext>
            </a:extLst>
          </p:cNvPr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a[i]</a:t>
            </a:r>
            <a:endParaRPr lang="pt-BR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DD498D59-E829-E4B3-57E5-6361C7F5E9A4}"/>
              </a:ext>
            </a:extLst>
          </p:cNvPr>
          <p:cNvSpPr txBox="1"/>
          <p:nvPr/>
        </p:nvSpPr>
        <p:spPr>
          <a:xfrm>
            <a:off x="2123728" y="1203598"/>
            <a:ext cx="6768752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aload slot(a)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 slot(i)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 err="1">
                <a:solidFill>
                  <a:srgbClr val="F7DF56"/>
                </a:solidFill>
                <a:latin typeface="Cambria Math"/>
                <a:ea typeface="Cambria Math"/>
              </a:rPr>
              <a:t>i</a:t>
            </a:r>
            <a:r>
              <a:rPr lang="en-US" sz="30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nvokevirtual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ImmutableIntArray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/get(I)I</a:t>
            </a:r>
          </a:p>
        </p:txBody>
      </p:sp>
    </p:spTree>
    <p:extLst>
      <p:ext uri="{BB962C8B-B14F-4D97-AF65-F5344CB8AC3E}">
        <p14:creationId xmlns:p14="http://schemas.microsoft.com/office/powerpoint/2010/main" val="1794674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600" spc="-1" dirty="0">
                <a:solidFill>
                  <a:srgbClr val="FFFFFF"/>
                </a:solidFill>
                <a:latin typeface="Franklin Gothic Book"/>
              </a:rPr>
              <a:t>Массивы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A34FEB4F-51E6-EA2A-23B8-820095F0FBF7}"/>
              </a:ext>
            </a:extLst>
          </p:cNvPr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a[i] = v</a:t>
            </a:r>
            <a:endParaRPr lang="pt-BR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3" name="TextShape 2">
            <a:extLst>
              <a:ext uri="{FF2B5EF4-FFF2-40B4-BE49-F238E27FC236}">
                <a16:creationId xmlns:a16="http://schemas.microsoft.com/office/drawing/2014/main" id="{DD498D59-E829-E4B3-57E5-6361C7F5E9A4}"/>
              </a:ext>
            </a:extLst>
          </p:cNvPr>
          <p:cNvSpPr txBox="1"/>
          <p:nvPr/>
        </p:nvSpPr>
        <p:spPr>
          <a:xfrm>
            <a:off x="1907704" y="1203598"/>
            <a:ext cx="6984776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2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aload slot(a)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2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 slot(i)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2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iload slot(v)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20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invokevirtual</a:t>
            </a:r>
            <a:r>
              <a:rPr lang="en-US" sz="2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2000" b="1" spc="-1" dirty="0" err="1">
                <a:solidFill>
                  <a:srgbClr val="F7DF56"/>
                </a:solidFill>
                <a:latin typeface="Cambria Math"/>
                <a:ea typeface="Cambria Math"/>
              </a:rPr>
              <a:t>I</a:t>
            </a:r>
            <a:r>
              <a:rPr lang="en-US" sz="20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mmutableIntArray</a:t>
            </a:r>
            <a:r>
              <a:rPr lang="en-US" sz="2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/with(II)LImmutableIntArray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2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astore slot(a2)</a:t>
            </a:r>
          </a:p>
        </p:txBody>
      </p:sp>
    </p:spTree>
    <p:extLst>
      <p:ext uri="{BB962C8B-B14F-4D97-AF65-F5344CB8AC3E}">
        <p14:creationId xmlns:p14="http://schemas.microsoft.com/office/powerpoint/2010/main" val="986944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Множественные возвраты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700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Один результат возвращается напрямую и может иметь тип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или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ImmutableIntArray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.</a:t>
            </a:r>
            <a:endParaRPr lang="ru-RU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Кортеж из двух и более результатов разрешён только тогда, когда все компоненты имеют тип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и представляется через JVM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int[]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фиксированной длины.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Это означает, что вызываемая функция должна:</a:t>
            </a:r>
          </a:p>
          <a:p>
            <a:pPr marL="717550" indent="-358775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Создать контейнер результата.</a:t>
            </a:r>
          </a:p>
          <a:p>
            <a:pPr marL="717550" indent="-358775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Записать в него возвращаемые значения в согласованном порядке.</a:t>
            </a:r>
          </a:p>
          <a:p>
            <a:pPr marL="717550" indent="-358775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Вернуть этот контейнер ссылочным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areturn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Вызывающая сторона затем извлекает компоненты и связывает их с локальными именами.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8962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FFFFFF"/>
                </a:solidFill>
                <a:latin typeface="Arial"/>
              </a:rPr>
              <a:t>Ошибки выполнения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925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Кодогенерация обязана сохранять не только «успешные» результаты, но и наблюдаемые ошибки выполнения. Для Funny это особенно важно для: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деления на ноль;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арифметического переполнения;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выхода за границы массива;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Нарушений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assert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если проверки сохранены в исполняемом коде.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3394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FFFFFF"/>
                </a:solidFill>
                <a:latin typeface="Arial"/>
              </a:rPr>
              <a:t>Ошибки выполнения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450850" indent="-4508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Вставлять явные проверки и затем явно бросать исключение или переходить в аварийный обработчик.</a:t>
            </a:r>
          </a:p>
          <a:p>
            <a:pPr marL="450850" indent="-4508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Опираться на эквивалентные механизмы самой целевой платформы.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71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FFFFFF"/>
                </a:solidFill>
                <a:latin typeface="Arial"/>
              </a:rPr>
              <a:t>Ошибки выполнения: учебный проект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Деление на ноль можно оставить на совести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idiv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который сам вызывает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ArithmeticException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а выход за границы массива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—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на совести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ImmutableIntArray.get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или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with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Обычные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iadd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isub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imul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и унарный минус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переполнение не обнаруживают, поэтому кодогенератор должен вставить проверку диапазона или вызвать эквивалентную проверяемую операцию выполнения.</a:t>
            </a:r>
          </a:p>
          <a:p>
            <a:pPr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Для деления отдельно проверяется случай 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-2</a:t>
            </a:r>
            <a:r>
              <a:rPr lang="ru-RU" sz="3000" b="1" strike="noStrike" spc="-1" baseline="30000" dirty="0">
                <a:solidFill>
                  <a:srgbClr val="F7DF56"/>
                </a:solidFill>
                <a:latin typeface="Cambria Math"/>
                <a:ea typeface="Cambria Math"/>
              </a:rPr>
              <a:t>31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/ -1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7030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FFFFFF"/>
                </a:solidFill>
                <a:latin typeface="Arial"/>
              </a:rPr>
              <a:t>Корректность байт-кода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стек не должен становиться отрицательным;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все пути к одной метке должны приходить с одинаковой высотой стека;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типы значений в слотах и на стеке должны быть согласованы;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каждая инструкция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return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должна видеть значение правильного типа.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63885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FFFFFF"/>
                </a:solidFill>
                <a:latin typeface="Arial"/>
              </a:rPr>
              <a:t>Низкоуровневые оптимизации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удаление лишних загрузок и сохранений;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укорочение последовательностей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push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/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pop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выбор более коротких инструкций загрузки констант;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уменьшение максимальной глубины стека;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упрощение переходов и удаление тривиальных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goto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.</a:t>
            </a:r>
            <a:endParaRPr lang="ru-RU" sz="3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1008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b="0" strike="noStrike" spc="-1" dirty="0">
                <a:solidFill>
                  <a:srgbClr val="FFFFFF"/>
                </a:solidFill>
                <a:latin typeface="Arial"/>
              </a:rPr>
              <a:t>LLVM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850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spc="-1" dirty="0">
                <a:solidFill>
                  <a:srgbClr val="FFFFFF"/>
                </a:solidFill>
                <a:latin typeface="Arial"/>
              </a:rPr>
              <a:t>LLVM (low-level virtual machine)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строит компиляторную инфраструктуру вокруг типизированного промежуточного представления LLVM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IR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  <a:endParaRPr lang="en-US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Передняя часть языка переводит исходное AST в LLVM IR, набор про-ходов анализирует и оптимизирует его, а целевые компоненты задней части выполняют выбор инструкций, размещение значений и выпуск кода для конкретной архитектуры.</a:t>
            </a:r>
            <a:endParaRPr lang="en-US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Такое разделение позволяет многим исходным языкам использовать общую среднюю и заднюю части.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57304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b="0" strike="noStrike" spc="-1" dirty="0">
                <a:solidFill>
                  <a:srgbClr val="FFFFFF"/>
                </a:solidFill>
                <a:latin typeface="Arial"/>
              </a:rPr>
              <a:t>LLVM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775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Функция LLVM IR состоит из базовых блоков. Каждый блок имеет одну точку входа, последовательность инструкций и завершающую инструкцию управления: переход, условное ветвление, возврат и т. п.</a:t>
            </a:r>
            <a:endParaRPr lang="en-US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Рёбра между блоками образуют управляющий граф.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Большинство регистровых значений LLVM IR находятся в SSA-форме.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Имя вроде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%x.2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определяется ровно один раз, а в точке слияния используется инструкция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phi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выбирающая значение по фактически пройденному входящему ребру.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8475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FFFFFF"/>
                </a:solidFill>
                <a:latin typeface="Arial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92500" lnSpcReduction="1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then: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%a = add i32 %x, 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br label %join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else: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%b = sub i32 %x, 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br label %join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join: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%r = phi i32 [ %a, %then ], [ %b, %else ]</a:t>
            </a:r>
            <a:endParaRPr lang="ru-RU" sz="3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4441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b="0" strike="noStrike" spc="-1" dirty="0">
                <a:solidFill>
                  <a:srgbClr val="FFFFFF"/>
                </a:solidFill>
                <a:latin typeface="Arial"/>
              </a:rPr>
              <a:t>LLVM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LLVM IR ниже исходного языка: в нём нет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while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или Funny-контрактов, но есть типы операций, блоки, переходы и память.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При этом LLVM IR не является машинным ассемблером: одно представление ещё может оптимизироваться и понижаться для разных целей.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82711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FFFFFF"/>
                </a:solidFill>
                <a:latin typeface="Arial"/>
              </a:rPr>
              <a:t>Формат модуля, компоновка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92500" lnSpcReduction="1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Генерация кода редко заканчивается на уровне одной функции. Обычно компилятор должен построить целый модуль: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таблицу функций;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таблицу констант;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собственно код методов;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метаданные о типах, сигнатурах и внешних зависимостях.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08692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FFFFFF"/>
                </a:solidFill>
                <a:latin typeface="Arial"/>
              </a:rPr>
              <a:t>Формат модуля, компоновка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850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Для JVM роль такого модуля играет .class-файл: в нём уже есть константный пул, таблицы методов, дескрипторы и другие служебные структуры.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Альтернативы для учебного компилятора</a:t>
            </a:r>
          </a:p>
          <a:p>
            <a:pPr marL="625475" indent="-358775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Генерация байт-кода через библиотеку вроде ASM (</a:t>
            </a:r>
            <a:r>
              <a:rPr lang="en-US" sz="3000" spc="-1" dirty="0">
                <a:solidFill>
                  <a:srgbClr val="FFFFFF"/>
                </a:solidFill>
                <a:latin typeface="Arial"/>
                <a:hlinkClick r:id="rId2"/>
              </a:rPr>
              <a:t>https://asm.ow2.io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).</a:t>
            </a:r>
          </a:p>
          <a:p>
            <a:pPr marL="625475" indent="-358775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10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Порождение промежуточного текстового формата вроде Jasmin (</a:t>
            </a:r>
            <a:r>
              <a:rPr lang="en-US" sz="3000" spc="-1" dirty="0">
                <a:solidFill>
                  <a:srgbClr val="FFFFFF"/>
                </a:solidFill>
                <a:latin typeface="Arial"/>
                <a:hlinkClick r:id="rId3"/>
              </a:rPr>
              <a:t>https://jasmin.sourceforge.net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) и дальнейшая его сборка внешним инструментом.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Для чтения и отладки результата полезен также javap.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6470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FFFFFF"/>
                </a:solidFill>
                <a:latin typeface="Arial"/>
              </a:rPr>
              <a:t>Формат модуля, компоновка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Для пользовательской или регистровой ВМ пришлось бы определять формат модуля явно: адреса функций, таблицы символов, переиндексацию констант и правила компоновки.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7. Порождение целевого кода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626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хническ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4572</TotalTime>
  <Words>2077</Words>
  <Application>Microsoft Office PowerPoint</Application>
  <PresentationFormat>Экран (16:9)</PresentationFormat>
  <Paragraphs>292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7" baseType="lpstr">
      <vt:lpstr>Aptos</vt:lpstr>
      <vt:lpstr>Arial</vt:lpstr>
      <vt:lpstr>Cambria Math</vt:lpstr>
      <vt:lpstr>Franklin Gothic Book</vt:lpstr>
      <vt:lpstr>Times New Roman</vt:lpstr>
      <vt:lpstr>Wingdings 2</vt:lpstr>
      <vt:lpstr>Техническая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НГУ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Трансляция и верификация предметно-ориентированных языков</dc:title>
  <dc:subject>Лекция 07</dc:subject>
  <dc:creator>Марьясов И. В.;Злыгостев А. И</dc:creator>
  <dc:description/>
  <cp:lastModifiedBy>i.v.m. i.v.m.</cp:lastModifiedBy>
  <cp:revision>80</cp:revision>
  <dcterms:created xsi:type="dcterms:W3CDTF">2022-09-13T16:50:05Z</dcterms:created>
  <dcterms:modified xsi:type="dcterms:W3CDTF">2026-10-26T09:07:08Z</dcterms:modified>
  <cp:category>Порождение целевого кода</cp:category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mpany">
    <vt:lpwstr>IVM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Экран (16:9)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26</vt:i4>
  </property>
</Properties>
</file>