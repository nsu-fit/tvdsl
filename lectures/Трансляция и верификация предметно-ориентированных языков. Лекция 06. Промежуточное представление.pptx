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41"/>
  </p:notesMasterIdLst>
  <p:sldIdLst>
    <p:sldId id="256" r:id="rId2"/>
    <p:sldId id="294" r:id="rId3"/>
    <p:sldId id="412" r:id="rId4"/>
    <p:sldId id="293" r:id="rId5"/>
    <p:sldId id="413" r:id="rId6"/>
    <p:sldId id="414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4" r:id="rId25"/>
    <p:sldId id="433" r:id="rId26"/>
    <p:sldId id="435" r:id="rId27"/>
    <p:sldId id="436" r:id="rId28"/>
    <p:sldId id="437" r:id="rId29"/>
    <p:sldId id="438" r:id="rId30"/>
    <p:sldId id="439" r:id="rId31"/>
    <p:sldId id="440" r:id="rId32"/>
    <p:sldId id="441" r:id="rId33"/>
    <p:sldId id="442" r:id="rId34"/>
    <p:sldId id="443" r:id="rId35"/>
    <p:sldId id="444" r:id="rId36"/>
    <p:sldId id="445" r:id="rId37"/>
    <p:sldId id="446" r:id="rId38"/>
    <p:sldId id="447" r:id="rId39"/>
    <p:sldId id="448" r:id="rId40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03" autoAdjust="0"/>
  </p:normalViewPr>
  <p:slideViewPr>
    <p:cSldViewPr>
      <p:cViewPr varScale="1">
        <p:scale>
          <a:sx n="136" d="100"/>
          <a:sy n="136" d="100"/>
        </p:scale>
        <p:origin x="81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57F37-7557-4B95-BD83-F914B9DF6C02}" type="datetimeFigureOut">
              <a:rPr lang="ru-RU" smtClean="0"/>
              <a:t>19.10.2026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26910-2691-45C8-9D4E-CC898081CAC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41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7467120" cy="85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7467120" cy="339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1. Языки и грамматики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1D71BFB-E4D4-425A-B96B-2F96C87F0071}" type="slidenum">
              <a:rPr lang="ru-RU" sz="1000" b="0" strike="noStrike" spc="-1" smtClean="0">
                <a:solidFill>
                  <a:srgbClr val="9C9B99"/>
                </a:solidFill>
                <a:latin typeface="Arial"/>
              </a:rPr>
              <a:pPr algn="r">
                <a:lnSpc>
                  <a:spcPct val="100000"/>
                </a:lnSpc>
              </a:pPr>
              <a:t>‹#›</a:t>
            </a:fld>
            <a:endParaRPr lang="ru-RU" sz="1000" b="0" strike="noStrike" spc="-1" dirty="0">
              <a:latin typeface="Times New Roman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ivm@iis.nsk.su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nsu-fit/TVDS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0" y="360214"/>
            <a:ext cx="9143640" cy="170748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Трансляция</a:t>
            </a:r>
            <a: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 </a:t>
            </a: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И Верификация</a:t>
            </a:r>
            <a:br>
              <a:rPr lang="en-US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</a:br>
            <a:r>
              <a:rPr lang="ru-RU" sz="4600" b="1" strike="noStrike" cap="all" spc="-1" dirty="0">
                <a:ln w="4953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/>
              </a:rPr>
              <a:t>предметно-ориентированных языков</a:t>
            </a:r>
            <a:endParaRPr lang="ru-RU" sz="4600" b="0" strike="noStrike" spc="-1" dirty="0">
              <a:ln w="4953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3995936" y="1707480"/>
            <a:ext cx="5040064" cy="2736360"/>
          </a:xfrm>
          <a:prstGeom prst="rect">
            <a:avLst/>
          </a:prstGeom>
          <a:noFill/>
          <a:ln>
            <a:noFill/>
          </a:ln>
        </p:spPr>
        <p:txBody>
          <a:bodyPr lIns="90000" tIns="0" rIns="45720" bIns="0">
            <a:normAutofit/>
          </a:bodyPr>
          <a:lstStyle/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Лекция </a:t>
            </a: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6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spc="-1" dirty="0">
                <a:solidFill>
                  <a:srgbClr val="FFFFFF"/>
                </a:solidFill>
                <a:latin typeface="Arial"/>
              </a:rPr>
              <a:t>Промежуточное представление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Марьясов Илья Владимирович,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к. ф.-м. н., н. с. лаборатории теоретического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программирования ИСИ СО РАН им. А. П. Ершова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  <a:hlinkClick r:id="rId2"/>
              </a:rPr>
              <a:t>ivm@iis.nsk.su</a:t>
            </a:r>
            <a:endParaRPr lang="ru-RU" sz="1500" b="0" u="sng" strike="noStrike" spc="-1" dirty="0">
              <a:solidFill>
                <a:srgbClr val="00C8C3"/>
              </a:solidFill>
              <a:uFillTx/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З</a:t>
            </a:r>
            <a:r>
              <a:rPr lang="ru-RU" sz="1500" spc="-1" dirty="0">
                <a:solidFill>
                  <a:srgbClr val="FFFFFF"/>
                </a:solidFill>
                <a:latin typeface="Arial"/>
              </a:rPr>
              <a:t>лыгостев Антон Игоревич</a:t>
            </a: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,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1500" b="0" strike="noStrike" spc="-1" dirty="0">
                <a:solidFill>
                  <a:srgbClr val="FFFFFF"/>
                </a:solidFill>
                <a:latin typeface="Arial"/>
              </a:rPr>
              <a:t>доцент, индустриальный профессор НГУ</a:t>
            </a:r>
            <a:endParaRPr lang="ru-RU" sz="15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FFFFFF"/>
                </a:solidFill>
                <a:latin typeface="Arial"/>
              </a:rPr>
              <a:t>E-mail: </a:t>
            </a:r>
            <a:r>
              <a:rPr lang="en-US" sz="1500" b="0" u="sng" strike="noStrike" spc="-1" dirty="0">
                <a:solidFill>
                  <a:srgbClr val="00C8C3"/>
                </a:solidFill>
                <a:uFillTx/>
                <a:latin typeface="Arial"/>
              </a:rPr>
              <a:t>a.zlygostev@g.nsu.ru</a:t>
            </a:r>
            <a:endParaRPr lang="ru-RU" sz="1500" b="0" strike="noStrike" spc="-1" dirty="0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0" y="4443840"/>
            <a:ext cx="9143640" cy="699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4572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FFFFFF"/>
                </a:solidFill>
                <a:latin typeface="Arial"/>
              </a:rPr>
              <a:t>Новосибирский государственный университет, 2026</a:t>
            </a:r>
            <a:endParaRPr lang="ru-RU" sz="2800" b="0" strike="noStrike" spc="-1" dirty="0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64C295-E9EF-9F36-1141-73B0288BE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32" y="1995686"/>
            <a:ext cx="1985392" cy="1985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D990A-72D7-0A0D-C332-0D1095BF8167}"/>
              </a:ext>
            </a:extLst>
          </p:cNvPr>
          <p:cNvSpPr txBox="1"/>
          <p:nvPr/>
        </p:nvSpPr>
        <p:spPr>
          <a:xfrm>
            <a:off x="244199" y="4074508"/>
            <a:ext cx="3535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4"/>
              </a:rPr>
              <a:t>https://github.com/nsu-fit/TVDSL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Представления программы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CECCABC-21AE-997A-8132-DFC66E351426}"/>
              </a:ext>
            </a:extLst>
          </p:cNvPr>
          <p:cNvGrpSpPr/>
          <p:nvPr/>
        </p:nvGrpSpPr>
        <p:grpSpPr>
          <a:xfrm>
            <a:off x="209112" y="1491630"/>
            <a:ext cx="8732121" cy="2623746"/>
            <a:chOff x="232239" y="1532180"/>
            <a:chExt cx="8732121" cy="2623746"/>
          </a:xfrm>
        </p:grpSpPr>
        <p:sp>
          <p:nvSpPr>
            <p:cNvPr id="6" name="Блок-схема: процесс 5">
              <a:extLst>
                <a:ext uri="{FF2B5EF4-FFF2-40B4-BE49-F238E27FC236}">
                  <a16:creationId xmlns:a16="http://schemas.microsoft.com/office/drawing/2014/main" id="{6A86AA20-8ADB-EC0A-08CD-EBE52CA48FF9}"/>
                </a:ext>
              </a:extLst>
            </p:cNvPr>
            <p:cNvSpPr/>
            <p:nvPr/>
          </p:nvSpPr>
          <p:spPr>
            <a:xfrm>
              <a:off x="232239" y="1532180"/>
              <a:ext cx="1340275" cy="73168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Исходный текст</a:t>
              </a:r>
            </a:p>
          </p:txBody>
        </p:sp>
        <p:sp>
          <p:nvSpPr>
            <p:cNvPr id="7" name="Блок-схема: процесс 6">
              <a:extLst>
                <a:ext uri="{FF2B5EF4-FFF2-40B4-BE49-F238E27FC236}">
                  <a16:creationId xmlns:a16="http://schemas.microsoft.com/office/drawing/2014/main" id="{A6A93B90-9633-C1DF-223C-96B96FA8360D}"/>
                </a:ext>
              </a:extLst>
            </p:cNvPr>
            <p:cNvSpPr/>
            <p:nvPr/>
          </p:nvSpPr>
          <p:spPr>
            <a:xfrm>
              <a:off x="1540702" y="3362231"/>
              <a:ext cx="1080120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Поток</a:t>
              </a:r>
            </a:p>
            <a:p>
              <a:pPr algn="ctr"/>
              <a:r>
                <a:rPr lang="ru-RU" dirty="0"/>
                <a:t>токенов</a:t>
              </a:r>
            </a:p>
          </p:txBody>
        </p:sp>
        <p:sp>
          <p:nvSpPr>
            <p:cNvPr id="9" name="Стрелка: вправо 8">
              <a:extLst>
                <a:ext uri="{FF2B5EF4-FFF2-40B4-BE49-F238E27FC236}">
                  <a16:creationId xmlns:a16="http://schemas.microsoft.com/office/drawing/2014/main" id="{AFB6FCC8-C1C5-AFE6-E8F2-65C6E5BFEAA6}"/>
                </a:ext>
              </a:extLst>
            </p:cNvPr>
            <p:cNvSpPr/>
            <p:nvPr/>
          </p:nvSpPr>
          <p:spPr>
            <a:xfrm rot="4174755">
              <a:off x="995780" y="2699769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Блок-схема: процесс 1">
              <a:extLst>
                <a:ext uri="{FF2B5EF4-FFF2-40B4-BE49-F238E27FC236}">
                  <a16:creationId xmlns:a16="http://schemas.microsoft.com/office/drawing/2014/main" id="{E866907D-2F2D-1471-6700-FFF2EE9D7404}"/>
                </a:ext>
              </a:extLst>
            </p:cNvPr>
            <p:cNvSpPr/>
            <p:nvPr/>
          </p:nvSpPr>
          <p:spPr>
            <a:xfrm>
              <a:off x="2620822" y="1532180"/>
              <a:ext cx="799050" cy="731686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AST</a:t>
              </a:r>
              <a:endParaRPr lang="ru-RU" dirty="0"/>
            </a:p>
          </p:txBody>
        </p:sp>
        <p:sp>
          <p:nvSpPr>
            <p:cNvPr id="3" name="Блок-схема: процесс 2">
              <a:extLst>
                <a:ext uri="{FF2B5EF4-FFF2-40B4-BE49-F238E27FC236}">
                  <a16:creationId xmlns:a16="http://schemas.microsoft.com/office/drawing/2014/main" id="{E962237F-D94D-5DAE-A0FA-E925677D318F}"/>
                </a:ext>
              </a:extLst>
            </p:cNvPr>
            <p:cNvSpPr/>
            <p:nvPr/>
          </p:nvSpPr>
          <p:spPr>
            <a:xfrm>
              <a:off x="3419872" y="3362232"/>
              <a:ext cx="2013419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Аннотированное</a:t>
              </a:r>
              <a:endParaRPr lang="en-US" dirty="0"/>
            </a:p>
            <a:p>
              <a:pPr algn="ctr"/>
              <a:r>
                <a:rPr lang="en-US" dirty="0"/>
                <a:t>AST</a:t>
              </a:r>
              <a:endParaRPr lang="ru-RU" dirty="0"/>
            </a:p>
          </p:txBody>
        </p:sp>
        <p:sp>
          <p:nvSpPr>
            <p:cNvPr id="4" name="Блок-схема: процесс 3">
              <a:extLst>
                <a:ext uri="{FF2B5EF4-FFF2-40B4-BE49-F238E27FC236}">
                  <a16:creationId xmlns:a16="http://schemas.microsoft.com/office/drawing/2014/main" id="{0F3219E9-CA5A-5F51-9DED-4028AE38B600}"/>
                </a:ext>
              </a:extLst>
            </p:cNvPr>
            <p:cNvSpPr/>
            <p:nvPr/>
          </p:nvSpPr>
          <p:spPr>
            <a:xfrm>
              <a:off x="5433291" y="1532180"/>
              <a:ext cx="2094630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Промежуточное</a:t>
              </a:r>
            </a:p>
            <a:p>
              <a:pPr algn="ctr"/>
              <a:r>
                <a:rPr lang="ru-RU" dirty="0"/>
                <a:t>представление</a:t>
              </a:r>
            </a:p>
          </p:txBody>
        </p:sp>
        <p:sp>
          <p:nvSpPr>
            <p:cNvPr id="5" name="Блок-схема: процесс 4">
              <a:extLst>
                <a:ext uri="{FF2B5EF4-FFF2-40B4-BE49-F238E27FC236}">
                  <a16:creationId xmlns:a16="http://schemas.microsoft.com/office/drawing/2014/main" id="{F4FC33AC-8326-7670-9603-8BB04DB1E65D}"/>
                </a:ext>
              </a:extLst>
            </p:cNvPr>
            <p:cNvSpPr/>
            <p:nvPr/>
          </p:nvSpPr>
          <p:spPr>
            <a:xfrm>
              <a:off x="7515747" y="3357914"/>
              <a:ext cx="1143744" cy="793694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Целевой</a:t>
              </a:r>
            </a:p>
            <a:p>
              <a:pPr algn="ctr"/>
              <a:r>
                <a:rPr lang="ru-RU" dirty="0"/>
                <a:t>код</a:t>
              </a:r>
            </a:p>
          </p:txBody>
        </p:sp>
        <p:sp>
          <p:nvSpPr>
            <p:cNvPr id="10" name="Стрелка: вправо 9">
              <a:extLst>
                <a:ext uri="{FF2B5EF4-FFF2-40B4-BE49-F238E27FC236}">
                  <a16:creationId xmlns:a16="http://schemas.microsoft.com/office/drawing/2014/main" id="{CA8FA9CA-15C3-34FA-1186-3F29524F2064}"/>
                </a:ext>
              </a:extLst>
            </p:cNvPr>
            <p:cNvSpPr/>
            <p:nvPr/>
          </p:nvSpPr>
          <p:spPr>
            <a:xfrm rot="4174755">
              <a:off x="3084117" y="2706960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Стрелка: вправо 16">
              <a:extLst>
                <a:ext uri="{FF2B5EF4-FFF2-40B4-BE49-F238E27FC236}">
                  <a16:creationId xmlns:a16="http://schemas.microsoft.com/office/drawing/2014/main" id="{C8BC9011-F6B7-755A-B1C6-47E63D7C33D7}"/>
                </a:ext>
              </a:extLst>
            </p:cNvPr>
            <p:cNvSpPr/>
            <p:nvPr/>
          </p:nvSpPr>
          <p:spPr>
            <a:xfrm rot="4174755">
              <a:off x="7189432" y="2737849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Стрелка: вправо 17">
              <a:extLst>
                <a:ext uri="{FF2B5EF4-FFF2-40B4-BE49-F238E27FC236}">
                  <a16:creationId xmlns:a16="http://schemas.microsoft.com/office/drawing/2014/main" id="{B93F0AF5-D6A1-0061-E34F-3BB891624DB4}"/>
                </a:ext>
              </a:extLst>
            </p:cNvPr>
            <p:cNvSpPr/>
            <p:nvPr/>
          </p:nvSpPr>
          <p:spPr>
            <a:xfrm rot="17820866">
              <a:off x="1973659" y="2685263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Стрелка: вправо 18">
              <a:extLst>
                <a:ext uri="{FF2B5EF4-FFF2-40B4-BE49-F238E27FC236}">
                  <a16:creationId xmlns:a16="http://schemas.microsoft.com/office/drawing/2014/main" id="{EC79C7C6-EAAB-049E-A51F-A497C0C6E6C4}"/>
                </a:ext>
              </a:extLst>
            </p:cNvPr>
            <p:cNvSpPr/>
            <p:nvPr/>
          </p:nvSpPr>
          <p:spPr>
            <a:xfrm rot="17820866">
              <a:off x="4948397" y="2737848"/>
              <a:ext cx="1100751" cy="20809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01A8FD-BA7E-69A7-DD16-E725B60233D7}"/>
                </a:ext>
              </a:extLst>
            </p:cNvPr>
            <p:cNvSpPr txBox="1"/>
            <p:nvPr/>
          </p:nvSpPr>
          <p:spPr>
            <a:xfrm>
              <a:off x="609442" y="2634357"/>
              <a:ext cx="9230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лексер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2CC1285-A811-EB67-693E-D9C4D9FFE419}"/>
                </a:ext>
              </a:extLst>
            </p:cNvPr>
            <p:cNvSpPr txBox="1"/>
            <p:nvPr/>
          </p:nvSpPr>
          <p:spPr>
            <a:xfrm>
              <a:off x="2391033" y="2941597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парсер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DEBF611-5B23-6480-B795-A219E30E262B}"/>
                </a:ext>
              </a:extLst>
            </p:cNvPr>
            <p:cNvSpPr txBox="1"/>
            <p:nvPr/>
          </p:nvSpPr>
          <p:spPr>
            <a:xfrm>
              <a:off x="3527136" y="2385604"/>
              <a:ext cx="1798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семантический</a:t>
              </a:r>
            </a:p>
            <a:p>
              <a:pPr algn="ctr"/>
              <a:r>
                <a:rPr lang="ru-RU" dirty="0"/>
                <a:t>анализ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2FE53B-4B27-C72B-5410-4126B497CD6F}"/>
                </a:ext>
              </a:extLst>
            </p:cNvPr>
            <p:cNvSpPr txBox="1"/>
            <p:nvPr/>
          </p:nvSpPr>
          <p:spPr>
            <a:xfrm>
              <a:off x="5433288" y="2767419"/>
              <a:ext cx="1547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оптимизатор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B13147-BEC7-DCDE-60D8-79FE9EC60593}"/>
                </a:ext>
              </a:extLst>
            </p:cNvPr>
            <p:cNvSpPr txBox="1"/>
            <p:nvPr/>
          </p:nvSpPr>
          <p:spPr>
            <a:xfrm>
              <a:off x="7703694" y="2190591"/>
              <a:ext cx="12606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выходной</a:t>
              </a:r>
            </a:p>
            <a:p>
              <a:pPr algn="ctr"/>
              <a:r>
                <a:rPr lang="ru-RU" dirty="0"/>
                <a:t>генератор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58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Необходимость промежуточного представления</a:t>
            </a:r>
            <a:r>
              <a:rPr lang="en-US" sz="4600" b="0" strike="noStrike" spc="-1" dirty="0">
                <a:solidFill>
                  <a:srgbClr val="FFFFFF"/>
                </a:solidFill>
                <a:latin typeface="Franklin Gothic Book"/>
              </a:rPr>
              <a:t> (intermediate representation)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одно то же представление неудобно для всех этапов трансляции;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отделение передней части от задней;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унифицированная площадка для оптимизаций;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переносимость: одно IR, несколько целевых платформ.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685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Блок-схема: знак завершения 11">
            <a:extLst>
              <a:ext uri="{FF2B5EF4-FFF2-40B4-BE49-F238E27FC236}">
                <a16:creationId xmlns:a16="http://schemas.microsoft.com/office/drawing/2014/main" id="{305B78E9-17BF-E209-048D-89F53FC63F71}"/>
              </a:ext>
            </a:extLst>
          </p:cNvPr>
          <p:cNvSpPr/>
          <p:nvPr/>
        </p:nvSpPr>
        <p:spPr>
          <a:xfrm>
            <a:off x="186000" y="987534"/>
            <a:ext cx="6186199" cy="1584216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Front-end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ru-RU" dirty="0"/>
          </a:p>
        </p:txBody>
      </p:sp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200" b="0" strike="noStrike" spc="-1" dirty="0">
                <a:solidFill>
                  <a:srgbClr val="FFFFFF"/>
                </a:solidFill>
                <a:latin typeface="Franklin Gothic Book"/>
              </a:rPr>
              <a:t>Общая схема конвейера трансляции</a:t>
            </a:r>
            <a:endParaRPr lang="ru-RU" sz="4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</a:t>
            </a:r>
            <a:r>
              <a:rPr lang="ru-RU" sz="1000" b="0" strike="noStrike" spc="-1">
                <a:solidFill>
                  <a:srgbClr val="9C9B99"/>
                </a:solidFill>
                <a:latin typeface="Arial"/>
              </a:rPr>
              <a:t>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6A86AA20-8ADB-EC0A-08CD-EBE52CA48FF9}"/>
              </a:ext>
            </a:extLst>
          </p:cNvPr>
          <p:cNvSpPr/>
          <p:nvPr/>
        </p:nvSpPr>
        <p:spPr>
          <a:xfrm>
            <a:off x="899592" y="1635648"/>
            <a:ext cx="1008112" cy="64807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Лексер</a:t>
            </a:r>
            <a:endParaRPr lang="ru-RU" dirty="0"/>
          </a:p>
        </p:txBody>
      </p:sp>
      <p:sp>
        <p:nvSpPr>
          <p:cNvPr id="7" name="Блок-схема: процесс 6">
            <a:extLst>
              <a:ext uri="{FF2B5EF4-FFF2-40B4-BE49-F238E27FC236}">
                <a16:creationId xmlns:a16="http://schemas.microsoft.com/office/drawing/2014/main" id="{A6A93B90-9633-C1DF-223C-96B96FA8360D}"/>
              </a:ext>
            </a:extLst>
          </p:cNvPr>
          <p:cNvSpPr/>
          <p:nvPr/>
        </p:nvSpPr>
        <p:spPr>
          <a:xfrm>
            <a:off x="2555776" y="1634040"/>
            <a:ext cx="1008112" cy="64807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Парсер</a:t>
            </a:r>
          </a:p>
        </p:txBody>
      </p:sp>
      <p:sp>
        <p:nvSpPr>
          <p:cNvPr id="8" name="Блок-схема: процесс 7">
            <a:extLst>
              <a:ext uri="{FF2B5EF4-FFF2-40B4-BE49-F238E27FC236}">
                <a16:creationId xmlns:a16="http://schemas.microsoft.com/office/drawing/2014/main" id="{37B832D4-BFD3-40C0-1CCD-7EBC4B1E3ABB}"/>
              </a:ext>
            </a:extLst>
          </p:cNvPr>
          <p:cNvSpPr/>
          <p:nvPr/>
        </p:nvSpPr>
        <p:spPr>
          <a:xfrm>
            <a:off x="4211960" y="1634040"/>
            <a:ext cx="1576825" cy="648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Анализатор</a:t>
            </a:r>
          </a:p>
          <a:p>
            <a:pPr algn="ctr"/>
            <a:r>
              <a:rPr lang="ru-RU" dirty="0"/>
              <a:t>семантики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AFB6FCC8-C1C5-AFE6-E8F2-65C6E5BFEAA6}"/>
              </a:ext>
            </a:extLst>
          </p:cNvPr>
          <p:cNvSpPr/>
          <p:nvPr/>
        </p:nvSpPr>
        <p:spPr>
          <a:xfrm>
            <a:off x="1907704" y="1840348"/>
            <a:ext cx="648072" cy="227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4169B281-5664-920E-D396-335E72428C5A}"/>
              </a:ext>
            </a:extLst>
          </p:cNvPr>
          <p:cNvSpPr/>
          <p:nvPr/>
        </p:nvSpPr>
        <p:spPr>
          <a:xfrm>
            <a:off x="3563888" y="1840348"/>
            <a:ext cx="648072" cy="227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знак завершения 12">
            <a:extLst>
              <a:ext uri="{FF2B5EF4-FFF2-40B4-BE49-F238E27FC236}">
                <a16:creationId xmlns:a16="http://schemas.microsoft.com/office/drawing/2014/main" id="{7B9A02A2-09A4-2FFD-87FB-9E0BFB251285}"/>
              </a:ext>
            </a:extLst>
          </p:cNvPr>
          <p:cNvSpPr/>
          <p:nvPr/>
        </p:nvSpPr>
        <p:spPr>
          <a:xfrm>
            <a:off x="2339752" y="3040936"/>
            <a:ext cx="2585799" cy="7655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Middle-end</a:t>
            </a:r>
            <a:endParaRPr lang="ru-RU" dirty="0"/>
          </a:p>
        </p:txBody>
      </p:sp>
      <p:sp>
        <p:nvSpPr>
          <p:cNvPr id="14" name="Блок-схема: знак завершения 13">
            <a:extLst>
              <a:ext uri="{FF2B5EF4-FFF2-40B4-BE49-F238E27FC236}">
                <a16:creationId xmlns:a16="http://schemas.microsoft.com/office/drawing/2014/main" id="{23393F63-3702-B3BE-4DEF-7B3C1900E714}"/>
              </a:ext>
            </a:extLst>
          </p:cNvPr>
          <p:cNvSpPr/>
          <p:nvPr/>
        </p:nvSpPr>
        <p:spPr>
          <a:xfrm>
            <a:off x="5508104" y="3928688"/>
            <a:ext cx="2585799" cy="7655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Back-end</a:t>
            </a:r>
            <a:endParaRPr lang="ru-RU" dirty="0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16A2E227-D019-8137-7538-F6129E8640A8}"/>
              </a:ext>
            </a:extLst>
          </p:cNvPr>
          <p:cNvSpPr/>
          <p:nvPr/>
        </p:nvSpPr>
        <p:spPr>
          <a:xfrm rot="5400000">
            <a:off x="3351045" y="2654985"/>
            <a:ext cx="467326" cy="30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37B3B770-C18C-31F2-484E-35D48BEFF738}"/>
              </a:ext>
            </a:extLst>
          </p:cNvPr>
          <p:cNvSpPr/>
          <p:nvPr/>
        </p:nvSpPr>
        <p:spPr>
          <a:xfrm rot="1644159">
            <a:off x="4808473" y="3672372"/>
            <a:ext cx="884805" cy="304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69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ru-RU" sz="4600" b="0" strike="noStrike" spc="-1" dirty="0">
                <a:solidFill>
                  <a:srgbClr val="FFFFFF"/>
                </a:solidFill>
                <a:latin typeface="Franklin Gothic Book"/>
              </a:rPr>
              <a:t>Формы промежуточного представления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деревья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(AST)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управляющий граф (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control flow graph: CFG);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линейные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(трёхадресный код: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TAC);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en-US" sz="3000" spc="-1" dirty="0">
                <a:solidFill>
                  <a:srgbClr val="FFFFFF"/>
                </a:solidFill>
                <a:latin typeface="Arial"/>
              </a:rPr>
              <a:t>static single assignment form (SSA);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байт-код ВМ (стековый или регистровый).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8908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Трёхадресный код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Линейное промежуточное представление, в котором каждая вычислительная инструкция имеет не более двух явных входных операндов и не более одного результата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484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 для </a:t>
            </a:r>
            <a:r>
              <a:rPr lang="en-US" sz="4800" spc="-1" dirty="0">
                <a:solidFill>
                  <a:srgbClr val="FFFFFF"/>
                </a:solidFill>
                <a:latin typeface="Arial"/>
              </a:rPr>
              <a:t>Funny</a:t>
            </a:r>
            <a:r>
              <a:rPr lang="ru-RU" sz="4800" spc="-1" dirty="0">
                <a:solidFill>
                  <a:srgbClr val="FFFFFF"/>
                </a:solidFill>
                <a:latin typeface="Arial"/>
              </a:rPr>
              <a:t>: набор инструкций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70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c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y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y op z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op y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load a[i]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update(a, i, y)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x goto L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..., x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m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:= call f(a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..., a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n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return x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1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..., x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m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310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 для </a:t>
            </a:r>
            <a:r>
              <a:rPr lang="en-US" sz="4800" spc="-1" dirty="0">
                <a:solidFill>
                  <a:srgbClr val="FFFFFF"/>
                </a:solidFill>
                <a:latin typeface="Arial"/>
              </a:rPr>
              <a:t>Funny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pt-B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(x &gt; 0) {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pt-B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   r = a[x] + 1;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pt-B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} else {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pt-B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   r = 0;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pt-B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}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pt-B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return r;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42EBDA8-C469-0718-70C9-45F1D88C615C}"/>
              </a:ext>
            </a:extLst>
          </p:cNvPr>
          <p:cNvSpPr txBox="1"/>
          <p:nvPr/>
        </p:nvSpPr>
        <p:spPr>
          <a:xfrm>
            <a:off x="4500120" y="1203598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550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t1 := x &gt; 0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t1 goto L_then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L_else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L_then: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load a[x]</a:t>
            </a: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t3 := 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t4 := t2 + t3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t4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L_join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L_else: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0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L_join: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return r</a:t>
            </a:r>
          </a:p>
        </p:txBody>
      </p:sp>
    </p:spTree>
    <p:extLst>
      <p:ext uri="{BB962C8B-B14F-4D97-AF65-F5344CB8AC3E}">
        <p14:creationId xmlns:p14="http://schemas.microsoft.com/office/powerpoint/2010/main" val="1161131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Управляющий граф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 algn="ctr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 = (B, E, 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конечное множество базовых блоков;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⊆ B</a:t>
            </a:r>
            <a:r>
              <a:rPr lang="en-US" sz="3000" b="1" strike="noStrike" spc="-1" baseline="30000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множество дуг;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входной блок;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выходной блок;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(v, w) </a:t>
            </a:r>
            <a:r>
              <a:rPr lang="en-US" sz="2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∈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если выполнение может перейти из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	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за один шаг управления.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896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Управляющий граф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pred(v)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множество предшественников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	блока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succ(v)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множество непосредственных 	потомков блока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8818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Блок-схема: процесс 1">
            <a:extLst>
              <a:ext uri="{FF2B5EF4-FFF2-40B4-BE49-F238E27FC236}">
                <a16:creationId xmlns:a16="http://schemas.microsoft.com/office/drawing/2014/main" id="{F317282E-3BE7-32B8-E4C5-CE8897943288}"/>
              </a:ext>
            </a:extLst>
          </p:cNvPr>
          <p:cNvSpPr/>
          <p:nvPr/>
        </p:nvSpPr>
        <p:spPr>
          <a:xfrm>
            <a:off x="3563888" y="1062720"/>
            <a:ext cx="1512168" cy="93296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t1 := x &gt; 0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t1 goto L_then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L_else</a:t>
            </a:r>
          </a:p>
        </p:txBody>
      </p:sp>
      <p:sp>
        <p:nvSpPr>
          <p:cNvPr id="3" name="Блок-схема: процесс 2">
            <a:extLst>
              <a:ext uri="{FF2B5EF4-FFF2-40B4-BE49-F238E27FC236}">
                <a16:creationId xmlns:a16="http://schemas.microsoft.com/office/drawing/2014/main" id="{51DA4743-3486-50BD-4133-374363D5C42D}"/>
              </a:ext>
            </a:extLst>
          </p:cNvPr>
          <p:cNvSpPr/>
          <p:nvPr/>
        </p:nvSpPr>
        <p:spPr>
          <a:xfrm>
            <a:off x="467544" y="2139702"/>
            <a:ext cx="1656184" cy="187185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L_then</a:t>
            </a: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load a[x]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pc="-1" dirty="0">
                <a:solidFill>
                  <a:srgbClr val="F7DF56"/>
                </a:solidFill>
                <a:latin typeface="Cambria Math"/>
                <a:ea typeface="Cambria Math"/>
              </a:rPr>
              <a:t>t3 := 1</a:t>
            </a:r>
            <a:endParaRPr lang="en-US" sz="15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t4 := t2 + t3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t4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goto</a:t>
            </a: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15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L_join</a:t>
            </a:r>
            <a:endParaRPr lang="en-US" sz="15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4" name="Блок-схема: процесс 3">
            <a:extLst>
              <a:ext uri="{FF2B5EF4-FFF2-40B4-BE49-F238E27FC236}">
                <a16:creationId xmlns:a16="http://schemas.microsoft.com/office/drawing/2014/main" id="{4EF173F1-9B1E-69EA-9B29-201D523A79C0}"/>
              </a:ext>
            </a:extLst>
          </p:cNvPr>
          <p:cNvSpPr/>
          <p:nvPr/>
        </p:nvSpPr>
        <p:spPr>
          <a:xfrm>
            <a:off x="6804248" y="2715766"/>
            <a:ext cx="1656184" cy="76317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L_else: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0</a:t>
            </a:r>
          </a:p>
        </p:txBody>
      </p:sp>
      <p:sp>
        <p:nvSpPr>
          <p:cNvPr id="5" name="Блок-схема: процесс 4">
            <a:extLst>
              <a:ext uri="{FF2B5EF4-FFF2-40B4-BE49-F238E27FC236}">
                <a16:creationId xmlns:a16="http://schemas.microsoft.com/office/drawing/2014/main" id="{78EE7225-F7F9-43A0-DDAE-6A2DE63A622F}"/>
              </a:ext>
            </a:extLst>
          </p:cNvPr>
          <p:cNvSpPr/>
          <p:nvPr/>
        </p:nvSpPr>
        <p:spPr>
          <a:xfrm>
            <a:off x="3563888" y="4040823"/>
            <a:ext cx="1512168" cy="76317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L_join: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return r</a:t>
            </a: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E54E2A59-948A-F93F-97BB-D1DE67845465}"/>
              </a:ext>
            </a:extLst>
          </p:cNvPr>
          <p:cNvSpPr/>
          <p:nvPr/>
        </p:nvSpPr>
        <p:spPr>
          <a:xfrm rot="1524324">
            <a:off x="5019818" y="2267616"/>
            <a:ext cx="1855770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CB825C33-E762-5187-6ED6-D0DE8706A7C1}"/>
              </a:ext>
            </a:extLst>
          </p:cNvPr>
          <p:cNvSpPr/>
          <p:nvPr/>
        </p:nvSpPr>
        <p:spPr>
          <a:xfrm rot="10348352">
            <a:off x="2145845" y="1962252"/>
            <a:ext cx="1406181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CB632E0E-CAE6-6858-16DD-51A818D35934}"/>
              </a:ext>
            </a:extLst>
          </p:cNvPr>
          <p:cNvSpPr/>
          <p:nvPr/>
        </p:nvSpPr>
        <p:spPr>
          <a:xfrm rot="208863">
            <a:off x="2130738" y="3874760"/>
            <a:ext cx="1406181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E77C8DD3-EC48-9070-55BB-BC4B14928D53}"/>
              </a:ext>
            </a:extLst>
          </p:cNvPr>
          <p:cNvSpPr/>
          <p:nvPr/>
        </p:nvSpPr>
        <p:spPr>
          <a:xfrm rot="9749760">
            <a:off x="5039656" y="3622985"/>
            <a:ext cx="1764291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8549B8-373E-75EE-F165-231F15743CDA}"/>
              </a:ext>
            </a:extLst>
          </p:cNvPr>
          <p:cNvSpPr txBox="1"/>
          <p:nvPr/>
        </p:nvSpPr>
        <p:spPr>
          <a:xfrm>
            <a:off x="3059832" y="1007391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b1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32B9FF-19FD-BD58-B384-7E7BD6BAAA8E}"/>
              </a:ext>
            </a:extLst>
          </p:cNvPr>
          <p:cNvSpPr txBox="1"/>
          <p:nvPr/>
        </p:nvSpPr>
        <p:spPr>
          <a:xfrm>
            <a:off x="467544" y="1779662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b2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084EF-FA58-B10A-3553-A2154C0A27AC}"/>
              </a:ext>
            </a:extLst>
          </p:cNvPr>
          <p:cNvSpPr txBox="1"/>
          <p:nvPr/>
        </p:nvSpPr>
        <p:spPr>
          <a:xfrm>
            <a:off x="6732240" y="2333798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b3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88C60-FC8C-A1C8-7F3C-8486F0C6D947}"/>
              </a:ext>
            </a:extLst>
          </p:cNvPr>
          <p:cNvSpPr txBox="1"/>
          <p:nvPr/>
        </p:nvSpPr>
        <p:spPr>
          <a:xfrm>
            <a:off x="3491880" y="3686589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b4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89DCC7-3EE3-95E9-906F-A2BAC499CA57}"/>
              </a:ext>
            </a:extLst>
          </p:cNvPr>
          <p:cNvSpPr txBox="1"/>
          <p:nvPr/>
        </p:nvSpPr>
        <p:spPr>
          <a:xfrm>
            <a:off x="2564160" y="1635646"/>
            <a:ext cx="121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" dirty="0">
                <a:solidFill>
                  <a:srgbClr val="F7DF56"/>
                </a:solidFill>
                <a:latin typeface="Cambria Math"/>
                <a:ea typeface="Cambria Math"/>
              </a:rPr>
              <a:t>true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EF3004-BD14-31BB-0267-BB7ACE0F3CBE}"/>
              </a:ext>
            </a:extLst>
          </p:cNvPr>
          <p:cNvSpPr txBox="1"/>
          <p:nvPr/>
        </p:nvSpPr>
        <p:spPr>
          <a:xfrm>
            <a:off x="5660504" y="1851670"/>
            <a:ext cx="121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-1" dirty="0">
                <a:solidFill>
                  <a:srgbClr val="F7DF56"/>
                </a:solidFill>
                <a:latin typeface="Cambria Math"/>
                <a:ea typeface="Cambria Math"/>
              </a:rPr>
              <a:t>false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210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Отношение доминирования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lnSpcReduction="10000"/>
          </a:bodyPr>
          <a:lstStyle/>
          <a:p>
            <a:pPr marL="36720" algn="ctr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dom w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всякий путь из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обязательно проходит через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Если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≠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то говорят о строгом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доминировании.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1" spc="-1" dirty="0">
              <a:solidFill>
                <a:srgbClr val="F7DF56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pc="-1" dirty="0">
                <a:solidFill>
                  <a:srgbClr val="F7DF56"/>
                </a:solidFill>
                <a:latin typeface="Arial"/>
              </a:rPr>
              <a:t>Упр.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Доказать, что отношение доминирования является частичным порядком.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5322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Отношение доминирования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 algn="ctr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idom(v)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ближайший строгий доминатор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1" spc="-1" dirty="0">
              <a:solidFill>
                <a:srgbClr val="F7DF56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pc="-1" dirty="0">
                <a:solidFill>
                  <a:srgbClr val="F7DF56"/>
                </a:solidFill>
                <a:latin typeface="Arial"/>
              </a:rPr>
              <a:t>Упр.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Доказать, что для каждого достижимого блока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≠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существует единственный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idom(v)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4038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Дерево непосредственного доминирования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Корень —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вершина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b="1" strike="noStrike" spc="-1" dirty="0">
                <a:solidFill>
                  <a:srgbClr val="FFFFFF"/>
                </a:solidFill>
                <a:latin typeface="Arial"/>
                <a:ea typeface="Cambria Math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соединяется с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w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если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idom(</a:t>
            </a: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w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 = 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3953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Блок-схема: процесс 1">
            <a:extLst>
              <a:ext uri="{FF2B5EF4-FFF2-40B4-BE49-F238E27FC236}">
                <a16:creationId xmlns:a16="http://schemas.microsoft.com/office/drawing/2014/main" id="{F317282E-3BE7-32B8-E4C5-CE8897943288}"/>
              </a:ext>
            </a:extLst>
          </p:cNvPr>
          <p:cNvSpPr/>
          <p:nvPr/>
        </p:nvSpPr>
        <p:spPr>
          <a:xfrm>
            <a:off x="3563888" y="1062720"/>
            <a:ext cx="1512168" cy="93296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t1 := x &gt; 0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t1 goto L_then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L_else</a:t>
            </a:r>
          </a:p>
        </p:txBody>
      </p:sp>
      <p:sp>
        <p:nvSpPr>
          <p:cNvPr id="3" name="Блок-схема: процесс 2">
            <a:extLst>
              <a:ext uri="{FF2B5EF4-FFF2-40B4-BE49-F238E27FC236}">
                <a16:creationId xmlns:a16="http://schemas.microsoft.com/office/drawing/2014/main" id="{51DA4743-3486-50BD-4133-374363D5C42D}"/>
              </a:ext>
            </a:extLst>
          </p:cNvPr>
          <p:cNvSpPr/>
          <p:nvPr/>
        </p:nvSpPr>
        <p:spPr>
          <a:xfrm>
            <a:off x="430812" y="2909718"/>
            <a:ext cx="1656184" cy="184490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L_then</a:t>
            </a: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load a[x]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pc="-1" dirty="0">
                <a:solidFill>
                  <a:srgbClr val="F7DF56"/>
                </a:solidFill>
                <a:latin typeface="Cambria Math"/>
                <a:ea typeface="Cambria Math"/>
              </a:rPr>
              <a:t>t3 := 1</a:t>
            </a:r>
            <a:endParaRPr lang="en-US" sz="15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t4 := t2 + t3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t4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goto</a:t>
            </a: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en-US" sz="1500" b="1" strike="noStrike" spc="-1" dirty="0" err="1">
                <a:solidFill>
                  <a:srgbClr val="F7DF56"/>
                </a:solidFill>
                <a:latin typeface="Cambria Math"/>
                <a:ea typeface="Cambria Math"/>
              </a:rPr>
              <a:t>L_join</a:t>
            </a:r>
            <a:endParaRPr lang="en-US" sz="15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4" name="Блок-схема: процесс 3">
            <a:extLst>
              <a:ext uri="{FF2B5EF4-FFF2-40B4-BE49-F238E27FC236}">
                <a16:creationId xmlns:a16="http://schemas.microsoft.com/office/drawing/2014/main" id="{4EF173F1-9B1E-69EA-9B29-201D523A79C0}"/>
              </a:ext>
            </a:extLst>
          </p:cNvPr>
          <p:cNvSpPr/>
          <p:nvPr/>
        </p:nvSpPr>
        <p:spPr>
          <a:xfrm>
            <a:off x="3573967" y="2920724"/>
            <a:ext cx="1656184" cy="76317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L_else: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0</a:t>
            </a:r>
          </a:p>
        </p:txBody>
      </p:sp>
      <p:sp>
        <p:nvSpPr>
          <p:cNvPr id="5" name="Блок-схема: процесс 4">
            <a:extLst>
              <a:ext uri="{FF2B5EF4-FFF2-40B4-BE49-F238E27FC236}">
                <a16:creationId xmlns:a16="http://schemas.microsoft.com/office/drawing/2014/main" id="{78EE7225-F7F9-43A0-DDAE-6A2DE63A622F}"/>
              </a:ext>
            </a:extLst>
          </p:cNvPr>
          <p:cNvSpPr/>
          <p:nvPr/>
        </p:nvSpPr>
        <p:spPr>
          <a:xfrm>
            <a:off x="6819350" y="2906407"/>
            <a:ext cx="1512168" cy="76317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L_join: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15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return r</a:t>
            </a: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E54E2A59-948A-F93F-97BB-D1DE67845465}"/>
              </a:ext>
            </a:extLst>
          </p:cNvPr>
          <p:cNvSpPr/>
          <p:nvPr/>
        </p:nvSpPr>
        <p:spPr>
          <a:xfrm rot="1524324">
            <a:off x="5019818" y="2267616"/>
            <a:ext cx="1855770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CB825C33-E762-5187-6ED6-D0DE8706A7C1}"/>
              </a:ext>
            </a:extLst>
          </p:cNvPr>
          <p:cNvSpPr/>
          <p:nvPr/>
        </p:nvSpPr>
        <p:spPr>
          <a:xfrm rot="8771039">
            <a:off x="1944071" y="2298264"/>
            <a:ext cx="1697333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CB632E0E-CAE6-6858-16DD-51A818D35934}"/>
              </a:ext>
            </a:extLst>
          </p:cNvPr>
          <p:cNvSpPr/>
          <p:nvPr/>
        </p:nvSpPr>
        <p:spPr>
          <a:xfrm rot="5400000">
            <a:off x="3847090" y="2301130"/>
            <a:ext cx="870756" cy="27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8549B8-373E-75EE-F165-231F15743CDA}"/>
              </a:ext>
            </a:extLst>
          </p:cNvPr>
          <p:cNvSpPr txBox="1"/>
          <p:nvPr/>
        </p:nvSpPr>
        <p:spPr>
          <a:xfrm>
            <a:off x="3059832" y="1007391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b1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32B9FF-19FD-BD58-B384-7E7BD6BAAA8E}"/>
              </a:ext>
            </a:extLst>
          </p:cNvPr>
          <p:cNvSpPr txBox="1"/>
          <p:nvPr/>
        </p:nvSpPr>
        <p:spPr>
          <a:xfrm>
            <a:off x="405615" y="2494921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b2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F084EF-FA58-B10A-3553-A2154C0A27AC}"/>
              </a:ext>
            </a:extLst>
          </p:cNvPr>
          <p:cNvSpPr txBox="1"/>
          <p:nvPr/>
        </p:nvSpPr>
        <p:spPr>
          <a:xfrm>
            <a:off x="3563888" y="2493011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b3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88C60-FC8C-A1C8-7F3C-8486F0C6D947}"/>
              </a:ext>
            </a:extLst>
          </p:cNvPr>
          <p:cNvSpPr txBox="1"/>
          <p:nvPr/>
        </p:nvSpPr>
        <p:spPr>
          <a:xfrm>
            <a:off x="6844547" y="2503976"/>
            <a:ext cx="432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3810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spc="-1" dirty="0">
                <a:solidFill>
                  <a:srgbClr val="FFFFFF"/>
                </a:solidFill>
                <a:latin typeface="Arial"/>
              </a:rPr>
              <a:t>Static single assignment form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промежуточное представление, в котором каждая версия переменной определяется ровно один раз.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Вместо повторных присваиваний вводятся новые версии имён.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7340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c goto L_then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L_join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L_then: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2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L_join: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x + 1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42EBDA8-C469-0718-70C9-45F1D88C615C}"/>
              </a:ext>
            </a:extLst>
          </p:cNvPr>
          <p:cNvSpPr txBox="1"/>
          <p:nvPr/>
        </p:nvSpPr>
        <p:spPr>
          <a:xfrm>
            <a:off x="4500120" y="1203598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1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if c goto L_then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x1 := 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goto L_join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L_then: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x2 := 2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L_join: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x3 := phi(x1, x2)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r1 := x3 + 1</a:t>
            </a:r>
          </a:p>
        </p:txBody>
      </p:sp>
    </p:spTree>
    <p:extLst>
      <p:ext uri="{BB962C8B-B14F-4D97-AF65-F5344CB8AC3E}">
        <p14:creationId xmlns:p14="http://schemas.microsoft.com/office/powerpoint/2010/main" val="2725498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Для чего нужна </a:t>
            </a:r>
            <a:r>
              <a:rPr lang="en-US" sz="4800" spc="-1" dirty="0">
                <a:solidFill>
                  <a:srgbClr val="FFFFFF"/>
                </a:solidFill>
                <a:latin typeface="Arial"/>
              </a:rPr>
              <a:t>SSA-form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lnSpcReduction="1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делает зависимости между определениями и использованиями почти буквальными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 каждого использования есть единственное определение, которое над ним доминирует;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упрощение дальнейших анализов;</a:t>
            </a:r>
          </a:p>
          <a:p>
            <a:pPr marL="420480" indent="-38376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Wingdings 2" charset="2"/>
              <a:buChar char="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копирование, свёртка констант и устранение мёртвых определений формулируются проще, чем в TAC.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663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Построение </a:t>
            </a:r>
            <a:r>
              <a:rPr lang="en-US" sz="4800" spc="-1" dirty="0">
                <a:solidFill>
                  <a:srgbClr val="FFFFFF"/>
                </a:solidFill>
                <a:latin typeface="Arial"/>
              </a:rPr>
              <a:t>SSA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lnSpcReduction="1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Вычислить доминаторы, непосредственные доминаторы и построить дерево доминаторов.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каждого исходного имени разместить </a:t>
            </a:r>
            <a:r>
              <a:rPr lang="el-GR" sz="3000" spc="-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φ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-узлы в нужных точках слияния.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Переименовать определения и использования проходом по дереву доминаторов.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9852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Граница доминирования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DF(v) = {w ∈ B |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∃p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∈ pred(w): v dom p &amp;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		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не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доминирует над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w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строго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}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Именно такие блоки являются естественными кандидатами на вставку </a:t>
            </a:r>
            <a:r>
              <a:rPr lang="el-GR" sz="3000" spc="-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φ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-узлов, потому что в них встречаются разные потоки управления, на которых могли возникнуть разные версии одного и того же имени.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5893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Переименования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Компилятор хранит стек текущих версий для каждого исходного имени.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При входе в определение создаётся новая версия и помещается в стек, а каждое использование берёт вершину соответствующего стека.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028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Анализ потока данных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use(v)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множество переменных, значения которых используются 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до их возможного переопределения внутри самого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def(v)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множество переменных, которым  присваивается новое значение 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до их использования.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791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v: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t1 := load a[i]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t2 := t1 + 1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	r := t2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use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(v) = {a, i}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def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(v) = {t1, t2, r}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4076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Анализ активных переменных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Переменная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называется активной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(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живой) в точке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если её значение в этой точке может использоваться в некотором пути в управляющем графе, начинающемся в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  <a:endParaRPr lang="en-US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Иначе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называется неактивной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(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мёртвой) в точке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p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0092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Анализ активных переменных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in(v)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множество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активных переменных непосредственно перед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;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out(v)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—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множество активных переменных непосредственно после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</a:t>
            </a:r>
            <a:r>
              <a:rPr lang="en-US" sz="3000" b="1" strike="noStrike" spc="-1" dirty="0">
                <a:solidFill>
                  <a:srgbClr val="FFFFFF"/>
                </a:solidFill>
                <a:latin typeface="Arial"/>
                <a:ea typeface="Cambria Math"/>
              </a:rPr>
              <a:t>.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0925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Анализ активных переменных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 algn="ctr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in(b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</a:t>
            </a:r>
            <a:r>
              <a:rPr lang="ru-RU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∅</a:t>
            </a:r>
            <a:endParaRPr lang="en-US" sz="3000" b="1" strike="noStrike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 algn="ctr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 ≠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b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endParaRPr lang="ru-RU" sz="3000" b="1" strike="noStrike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6720" algn="ctr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in(v) = use(v) ∪ (out(v) \ def(v))</a:t>
            </a:r>
          </a:p>
          <a:p>
            <a:pPr marL="36720" algn="ctr"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out(v) = ⋃</a:t>
            </a:r>
            <a:r>
              <a:rPr lang="en-US" sz="3000" b="1" spc="-1" baseline="-25000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 </a:t>
            </a:r>
            <a:r>
              <a:rPr lang="en-US" sz="30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∈ succ(v)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in(s)</a:t>
            </a:r>
            <a:endParaRPr lang="ru-RU" sz="3000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2829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Анализ активных переменных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1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Активных переменных при выходе из программы нет.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Переменная активна при входе в блок, если она используется в блоке до переопределения или если она активна на выходе из блока и не переопределена в нём.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Переменная активна при выходе из блока тогда и только тогда, когда она активна при входе по крайней мере в один из блоков-потомков.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4158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Алгоритм анализа активных переменных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85000" lnSpcReduction="20000"/>
          </a:bodyPr>
          <a:lstStyle/>
          <a:p>
            <a:pPr marL="420480" indent="-38376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Arial"/>
              </a:rPr>
              <a:t>Вход: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управляющий граф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G = (B, E, b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, b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200" b="0" strike="noStrike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∈ B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use(v)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def(v)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420480" indent="-38376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Arial"/>
              </a:rPr>
              <a:t>Выход: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∈ B in(v)</a:t>
            </a:r>
            <a:r>
              <a:rPr lang="en-US" sz="3200" spc="-1" dirty="0">
                <a:solidFill>
                  <a:srgbClr val="FFFFFF"/>
                </a:solidFill>
                <a:latin typeface="Arial"/>
              </a:rPr>
              <a:t>,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out(v)</a:t>
            </a:r>
            <a:r>
              <a:rPr lang="ru-RU" sz="3200" b="0" strike="noStrike" spc="-1" dirty="0">
                <a:solidFill>
                  <a:srgbClr val="FFFFFF"/>
                </a:solidFill>
                <a:latin typeface="Arial"/>
              </a:rPr>
              <a:t>.</a:t>
            </a: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F7DF56"/>
                </a:solidFill>
                <a:latin typeface="Arial"/>
              </a:rPr>
              <a:t>Метод:</a:t>
            </a:r>
            <a:endParaRPr lang="en-US" sz="3200" spc="-1" dirty="0">
              <a:solidFill>
                <a:srgbClr val="FFFFFF"/>
              </a:solidFill>
              <a:latin typeface="Arial"/>
            </a:endParaRP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	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in(b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)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=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∅</a:t>
            </a:r>
            <a:endParaRPr lang="en-US" sz="3200" b="1" strike="noStrike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for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∈ B v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≠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 </a:t>
            </a:r>
            <a:r>
              <a:rPr lang="en-US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in(v) =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∅</a:t>
            </a:r>
            <a:endParaRPr lang="en-US" sz="3200" b="1" strike="noStrike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while (</a:t>
            </a:r>
            <a:r>
              <a:rPr lang="ru-RU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внесены изменения в  </a:t>
            </a:r>
            <a:r>
              <a:rPr lang="en-US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in(v))</a:t>
            </a: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for </a:t>
            </a:r>
            <a:r>
              <a:rPr lang="ru-RU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∀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v ∈ B v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≠ 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exit</a:t>
            </a:r>
            <a:endParaRPr lang="en-US" sz="3200" b="1" spc="-1" dirty="0">
              <a:solidFill>
                <a:srgbClr val="F7DF5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out(v) = ⋃</a:t>
            </a:r>
            <a:r>
              <a:rPr lang="en-US" sz="3200" b="1" spc="-1" baseline="-25000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 </a:t>
            </a:r>
            <a:r>
              <a:rPr lang="en-US" sz="32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∈ succ(v)</a:t>
            </a:r>
            <a:r>
              <a:rPr lang="en-US" sz="32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 in(s)</a:t>
            </a:r>
          </a:p>
          <a:p>
            <a:pPr marL="420480" indent="-383760">
              <a:spcBef>
                <a:spcPts val="300"/>
              </a:spcBef>
              <a:tabLst>
                <a:tab pos="0" algn="l"/>
              </a:tabLst>
            </a:pPr>
            <a:r>
              <a:rPr lang="en-US" sz="3200" b="1" spc="-1" dirty="0">
                <a:solidFill>
                  <a:srgbClr val="F7DF56"/>
                </a:solidFill>
                <a:latin typeface="Cambria Math"/>
                <a:ea typeface="Cambria Math"/>
              </a:rPr>
              <a:t>			</a:t>
            </a:r>
            <a:r>
              <a:rPr lang="en-US" sz="3200" b="1" spc="-1" dirty="0">
                <a:solidFill>
                  <a:srgbClr val="F7DF5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in(v) = use(v) ∪ (out(v) \ def(v))</a:t>
            </a:r>
            <a:endParaRPr lang="en-US" sz="3200" b="1" spc="-1" baseline="-25000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1639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Свёртка констант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Если анализ доказал, что значение некоторой переменной есть известная константа, то использование этой переменной можно заменить самой константой. После этого многие выражения удаётся вычислить уже на этапе компиляции.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8030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Пример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t1 := 3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t1 + 4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t3 := t2 &lt; 10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42EBDA8-C469-0718-70C9-45F1D88C615C}"/>
              </a:ext>
            </a:extLst>
          </p:cNvPr>
          <p:cNvSpPr txBox="1"/>
          <p:nvPr/>
        </p:nvSpPr>
        <p:spPr>
          <a:xfrm>
            <a:off x="4500120" y="1203598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7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t3 := true</a:t>
            </a:r>
          </a:p>
        </p:txBody>
      </p:sp>
    </p:spTree>
    <p:extLst>
      <p:ext uri="{BB962C8B-B14F-4D97-AF65-F5344CB8AC3E}">
        <p14:creationId xmlns:p14="http://schemas.microsoft.com/office/powerpoint/2010/main" val="369981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Алгебраические упрощения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+ 0 = x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x - 0 = x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* 1 = x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42EBDA8-C469-0718-70C9-45F1D88C615C}"/>
              </a:ext>
            </a:extLst>
          </p:cNvPr>
          <p:cNvSpPr txBox="1"/>
          <p:nvPr/>
        </p:nvSpPr>
        <p:spPr>
          <a:xfrm>
            <a:off x="4500120" y="1203598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0 * e = 0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pc="-1" dirty="0">
                <a:solidFill>
                  <a:srgbClr val="F7DF56"/>
                </a:solidFill>
                <a:latin typeface="Cambria Math"/>
                <a:ea typeface="Cambria Math"/>
              </a:rPr>
              <a:t>e / e = 1</a:t>
            </a:r>
            <a:endParaRPr lang="en-US" sz="3000" b="1" strike="noStrike" spc="-1" dirty="0">
              <a:solidFill>
                <a:srgbClr val="F7DF56"/>
              </a:solidFill>
              <a:latin typeface="Cambria Math"/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06549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Локальное исключение общих подвыражений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Если некоторое безопасное выражение уже было вычислено и его операнды после этого не переопределялись, повторное вычисление можно заменить использованием уже имеющегося результата.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3338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Локальное исключение общих подвыражений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t1 := a + b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a + b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t1 + t2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  <p:sp>
        <p:nvSpPr>
          <p:cNvPr id="2" name="TextShape 2">
            <a:extLst>
              <a:ext uri="{FF2B5EF4-FFF2-40B4-BE49-F238E27FC236}">
                <a16:creationId xmlns:a16="http://schemas.microsoft.com/office/drawing/2014/main" id="{A42EBDA8-C469-0718-70C9-45F1D88C615C}"/>
              </a:ext>
            </a:extLst>
          </p:cNvPr>
          <p:cNvSpPr txBox="1"/>
          <p:nvPr/>
        </p:nvSpPr>
        <p:spPr>
          <a:xfrm>
            <a:off x="4500120" y="1203598"/>
            <a:ext cx="439236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t1 := a + b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t2 := t1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fr-FR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r := t1 + t2</a:t>
            </a:r>
          </a:p>
        </p:txBody>
      </p:sp>
    </p:spTree>
    <p:extLst>
      <p:ext uri="{BB962C8B-B14F-4D97-AF65-F5344CB8AC3E}">
        <p14:creationId xmlns:p14="http://schemas.microsoft.com/office/powerpoint/2010/main" val="3089276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Удаление бесполезного кода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 algn="ctr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:= e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можно удалить, если одновременно выполняются два условия: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x 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не активна после этой инструкции.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Вычисление </a:t>
            </a:r>
            <a:r>
              <a:rPr lang="en-US" sz="30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e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не имеет побочных эффектов, не может завершиться ошибкой и гарантированно завершается.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8525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Удаление бесполезного кода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Удаление инструкций, результаты которых больше нигде не используются.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6737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Недостижимые блоки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После свёртки констант и упрощения условий некоторые ветви управляющего графа могут стать недостижимыми. Если блок недостижим из </a:t>
            </a:r>
            <a:r>
              <a:rPr lang="en-US" sz="2800" b="1" strike="noStrike" spc="-1" dirty="0">
                <a:solidFill>
                  <a:srgbClr val="F7DF56"/>
                </a:solidFill>
                <a:latin typeface="Cambria Math"/>
                <a:ea typeface="Cambria Math"/>
              </a:rPr>
              <a:t>b</a:t>
            </a:r>
            <a:r>
              <a:rPr lang="en-US" sz="2800" b="1" strike="noStrike" spc="-1" baseline="-25000" dirty="0">
                <a:solidFill>
                  <a:srgbClr val="F7DF56"/>
                </a:solidFill>
                <a:latin typeface="Cambria Math"/>
                <a:ea typeface="Cambria Math"/>
              </a:rPr>
              <a:t>entry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, его можно удалить вместе со всеми исходящими дугами.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5343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Интервалы активности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Фрагмент программы от первого определения до последнего использования.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 </a:t>
            </a:r>
            <a:r>
              <a:rPr lang="en-US" sz="3000" spc="-1" dirty="0">
                <a:solidFill>
                  <a:srgbClr val="FFFFFF"/>
                </a:solidFill>
                <a:latin typeface="Arial"/>
              </a:rPr>
              <a:t>SSA</a:t>
            </a:r>
            <a:r>
              <a:rPr lang="ru-RU" sz="3000" spc="-1" dirty="0">
                <a:solidFill>
                  <a:srgbClr val="FFFFFF"/>
                </a:solidFill>
                <a:latin typeface="Arial"/>
              </a:rPr>
              <a:t> каждая версия переменной имеет ровно одно определение, а её интервал длится до всех мест использования по соответствующим путям управляющего графа.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Используются для распределения регистров.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687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Граф конфликтов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92500" lnSpcReduction="20000"/>
          </a:bodyPr>
          <a:lstStyle/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Вершины — временное значение или версия переменной.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Ребро соединяет две вершины, если соответствующие значения активны одновременно.</a:t>
            </a: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endParaRPr lang="ru-RU" sz="3000" spc="-1" dirty="0">
              <a:solidFill>
                <a:srgbClr val="FFFFFF"/>
              </a:solidFill>
              <a:latin typeface="Arial"/>
            </a:endParaRPr>
          </a:p>
          <a:p>
            <a:pPr marL="3672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Если между двумя вершинами есть ребро, эти значения нельзя разместить в одном и том же регистре.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826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79640" y="205920"/>
            <a:ext cx="8784720" cy="856800"/>
          </a:xfrm>
          <a:prstGeom prst="rect">
            <a:avLst/>
          </a:prstGeom>
          <a:noFill/>
          <a:ln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4800" spc="-1" dirty="0">
                <a:solidFill>
                  <a:srgbClr val="FFFFFF"/>
                </a:solidFill>
                <a:latin typeface="Arial"/>
              </a:rPr>
              <a:t>Жадная раскраска</a:t>
            </a:r>
            <a:endParaRPr lang="ru-RU" sz="4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179640" y="1200240"/>
            <a:ext cx="8784720" cy="3747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 anchorCtr="0">
            <a:normAutofit fontScale="85000" lnSpcReduction="20000"/>
          </a:bodyPr>
          <a:lstStyle/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Упорядочить вершины графа конфликтов по убыванию их степеней.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Взять первую вершину и раскрасить в первый цвет.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Для каждой следующей вершины назначить наименьший номер цвета, который не занят ни одной из смежных с ней вершин.</a:t>
            </a:r>
          </a:p>
          <a:p>
            <a:pPr marL="551070" indent="-514350">
              <a:lnSpc>
                <a:spcPct val="100000"/>
              </a:lnSpc>
              <a:spcBef>
                <a:spcPts val="601"/>
              </a:spcBef>
              <a:buClr>
                <a:srgbClr val="6EA0B0"/>
              </a:buClr>
              <a:buSzPct val="80000"/>
              <a:buFont typeface="+mj-lt"/>
              <a:buAutoNum type="arabicPeriod"/>
            </a:pPr>
            <a:r>
              <a:rPr lang="ru-RU" sz="3000" spc="-1" dirty="0">
                <a:solidFill>
                  <a:srgbClr val="FFFFFF"/>
                </a:solidFill>
                <a:latin typeface="Arial"/>
              </a:rPr>
              <a:t>Если количество цветов превысило количество доступных регистров, то переместить реже используемую переменную в стек, добавив инструкции загрузки и сохранения.</a:t>
            </a:r>
          </a:p>
        </p:txBody>
      </p:sp>
      <p:sp>
        <p:nvSpPr>
          <p:cNvPr id="93" name="TextShape 3"/>
          <p:cNvSpPr txBox="1"/>
          <p:nvPr/>
        </p:nvSpPr>
        <p:spPr>
          <a:xfrm>
            <a:off x="179640" y="4816440"/>
            <a:ext cx="8784720" cy="273600"/>
          </a:xfrm>
          <a:prstGeom prst="rect">
            <a:avLst/>
          </a:prstGeom>
          <a:noFill/>
          <a:ln>
            <a:noFill/>
          </a:ln>
        </p:spPr>
        <p:txBody>
          <a:bodyPr lIns="0" tIns="4500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Лекция </a:t>
            </a:r>
            <a:r>
              <a:rPr lang="en-US" sz="1000" b="0" strike="noStrike" spc="-1" dirty="0">
                <a:solidFill>
                  <a:srgbClr val="9C9B99"/>
                </a:solidFill>
                <a:latin typeface="Arial"/>
              </a:rPr>
              <a:t>6</a:t>
            </a:r>
            <a:r>
              <a:rPr lang="ru-RU" sz="1000" b="0" strike="noStrike" spc="-1" dirty="0">
                <a:solidFill>
                  <a:srgbClr val="9C9B99"/>
                </a:solidFill>
                <a:latin typeface="Arial"/>
              </a:rPr>
              <a:t>. Промежуточное представление</a:t>
            </a:r>
            <a:endParaRPr lang="ru-RU" sz="1000" b="0" strike="noStrike" spc="-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06564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3961</TotalTime>
  <Words>1896</Words>
  <Application>Microsoft Office PowerPoint</Application>
  <PresentationFormat>Экран (16:9)</PresentationFormat>
  <Paragraphs>306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Aptos</vt:lpstr>
      <vt:lpstr>Arial</vt:lpstr>
      <vt:lpstr>Cambria Math</vt:lpstr>
      <vt:lpstr>Franklin Gothic Book</vt:lpstr>
      <vt:lpstr>Times New Roman</vt:lpstr>
      <vt:lpstr>Wingdings 2</vt:lpstr>
      <vt:lpstr>Техническая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НГУ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Трансляция и верификация предметно-ориентированных языков</dc:title>
  <dc:subject>Лекция 06</dc:subject>
  <dc:creator>Марьясов И. В.; Злыгостев А. И</dc:creator>
  <dc:description/>
  <dcterms:created xsi:type="dcterms:W3CDTF">2022-09-13T16:50:05Z</dcterms:created>
  <dcterms:modified xsi:type="dcterms:W3CDTF">2026-10-19T15:27:14Z</dcterms:modified>
  <cp:category>Промежуточное представление</cp:category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IVM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Экран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26</vt:i4>
  </property>
</Properties>
</file>