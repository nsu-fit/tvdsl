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35"/>
  </p:notesMasterIdLst>
  <p:sldIdLst>
    <p:sldId id="256" r:id="rId2"/>
    <p:sldId id="293" r:id="rId3"/>
    <p:sldId id="294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9" r:id="rId12"/>
    <p:sldId id="390" r:id="rId13"/>
    <p:sldId id="391" r:id="rId14"/>
    <p:sldId id="392" r:id="rId15"/>
    <p:sldId id="393" r:id="rId16"/>
    <p:sldId id="410" r:id="rId17"/>
    <p:sldId id="411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03" autoAdjust="0"/>
  </p:normalViewPr>
  <p:slideViewPr>
    <p:cSldViewPr>
      <p:cViewPr varScale="1">
        <p:scale>
          <a:sx n="100" d="100"/>
          <a:sy n="100" d="100"/>
        </p:scale>
        <p:origin x="34" y="10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57F37-7557-4B95-BD83-F914B9DF6C02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26910-2691-45C8-9D4E-CC898081CAC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41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7467120" cy="85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7467120" cy="339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ivm@iis.nsk.su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nsu-fit/TVDS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0" y="360214"/>
            <a:ext cx="9143640" cy="170748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Трансляция</a:t>
            </a:r>
            <a: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 </a:t>
            </a: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И Верификация</a:t>
            </a:r>
            <a: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/>
            </a:r>
            <a:b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</a:b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предметно-ориентированных языков</a:t>
            </a:r>
            <a:endParaRPr lang="ru-RU" sz="4600" b="0" strike="noStrike" spc="-1" dirty="0">
              <a:ln w="4953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3995936" y="1707480"/>
            <a:ext cx="5040064" cy="2736360"/>
          </a:xfrm>
          <a:prstGeom prst="rect">
            <a:avLst/>
          </a:prstGeom>
          <a:noFill/>
          <a:ln>
            <a:noFill/>
          </a:ln>
        </p:spPr>
        <p:txBody>
          <a:bodyPr lIns="90000" tIns="0" rIns="45720" bIns="0">
            <a:normAutofit/>
          </a:bodyPr>
          <a:lstStyle/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Лекция </a:t>
            </a: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5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spc="-1" dirty="0">
                <a:solidFill>
                  <a:srgbClr val="FFFFFF"/>
                </a:solidFill>
                <a:latin typeface="Arial"/>
              </a:rPr>
              <a:t>Семантический анализ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Марьясов Илья Владимирович,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к. ф.-м. н., н. с. лаборатории теоретического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программирования ИСИ СО РАН им. А. П. Ершова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  <a:hlinkClick r:id="rId2"/>
              </a:rPr>
              <a:t>ivm@iis.nsk.su</a:t>
            </a:r>
            <a:endParaRPr lang="ru-RU" sz="1500" b="0" u="sng" strike="noStrike" spc="-1" dirty="0">
              <a:solidFill>
                <a:srgbClr val="00C8C3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З</a:t>
            </a:r>
            <a:r>
              <a:rPr lang="ru-RU" sz="1500" spc="-1" dirty="0">
                <a:solidFill>
                  <a:srgbClr val="FFFFFF"/>
                </a:solidFill>
                <a:latin typeface="Arial"/>
              </a:rPr>
              <a:t>лыгостев Антон Игоревич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индустриальный профессор НГУ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</a:rPr>
              <a:t>a.zlygostev@g.nsu.ru</a:t>
            </a:r>
            <a:endParaRPr lang="ru-RU" sz="1500" b="0" strike="noStrike" spc="-1" dirty="0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0" y="4443840"/>
            <a:ext cx="9143640" cy="699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4572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FFFFFF"/>
                </a:solidFill>
                <a:latin typeface="Arial"/>
              </a:rPr>
              <a:t>Новосибирский государственный университет, 2026</a:t>
            </a:r>
            <a:endParaRPr lang="ru-RU" sz="2800" b="0" strike="noStrike" spc="-1" dirty="0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64C295-E9EF-9F36-1141-73B0288BE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32" y="1995686"/>
            <a:ext cx="1985392" cy="1985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D990A-72D7-0A0D-C332-0D1095BF8167}"/>
              </a:ext>
            </a:extLst>
          </p:cNvPr>
          <p:cNvSpPr txBox="1"/>
          <p:nvPr/>
        </p:nvSpPr>
        <p:spPr>
          <a:xfrm>
            <a:off x="244199" y="4074508"/>
            <a:ext cx="3535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4"/>
              </a:rPr>
              <a:t>https://github.com/nsu-fit/TVDSL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Блок-схема: знак завершения 11">
            <a:extLst>
              <a:ext uri="{FF2B5EF4-FFF2-40B4-BE49-F238E27FC236}">
                <a16:creationId xmlns:a16="http://schemas.microsoft.com/office/drawing/2014/main" id="{305B78E9-17BF-E209-048D-89F53FC63F71}"/>
              </a:ext>
            </a:extLst>
          </p:cNvPr>
          <p:cNvSpPr/>
          <p:nvPr/>
        </p:nvSpPr>
        <p:spPr>
          <a:xfrm>
            <a:off x="186000" y="987534"/>
            <a:ext cx="6186199" cy="158421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ru-RU" dirty="0"/>
          </a:p>
        </p:txBody>
      </p:sp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200" b="0" strike="noStrike" spc="-1" dirty="0">
                <a:solidFill>
                  <a:srgbClr val="FFFFFF"/>
                </a:solidFill>
                <a:latin typeface="Franklin Gothic Book"/>
              </a:rPr>
              <a:t>Общая схема конвейера трансляции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6A86AA20-8ADB-EC0A-08CD-EBE52CA48FF9}"/>
              </a:ext>
            </a:extLst>
          </p:cNvPr>
          <p:cNvSpPr/>
          <p:nvPr/>
        </p:nvSpPr>
        <p:spPr>
          <a:xfrm>
            <a:off x="899592" y="1635648"/>
            <a:ext cx="1008112" cy="64807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Лексер</a:t>
            </a:r>
            <a:endParaRPr lang="ru-RU" dirty="0"/>
          </a:p>
        </p:txBody>
      </p:sp>
      <p:sp>
        <p:nvSpPr>
          <p:cNvPr id="7" name="Блок-схема: процесс 6">
            <a:extLst>
              <a:ext uri="{FF2B5EF4-FFF2-40B4-BE49-F238E27FC236}">
                <a16:creationId xmlns:a16="http://schemas.microsoft.com/office/drawing/2014/main" id="{A6A93B90-9633-C1DF-223C-96B96FA8360D}"/>
              </a:ext>
            </a:extLst>
          </p:cNvPr>
          <p:cNvSpPr/>
          <p:nvPr/>
        </p:nvSpPr>
        <p:spPr>
          <a:xfrm>
            <a:off x="2555776" y="1634040"/>
            <a:ext cx="1008112" cy="64807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Парсер</a:t>
            </a:r>
          </a:p>
        </p:txBody>
      </p:sp>
      <p:sp>
        <p:nvSpPr>
          <p:cNvPr id="8" name="Блок-схема: процесс 7">
            <a:extLst>
              <a:ext uri="{FF2B5EF4-FFF2-40B4-BE49-F238E27FC236}">
                <a16:creationId xmlns:a16="http://schemas.microsoft.com/office/drawing/2014/main" id="{37B832D4-BFD3-40C0-1CCD-7EBC4B1E3ABB}"/>
              </a:ext>
            </a:extLst>
          </p:cNvPr>
          <p:cNvSpPr/>
          <p:nvPr/>
        </p:nvSpPr>
        <p:spPr>
          <a:xfrm>
            <a:off x="4211960" y="1634040"/>
            <a:ext cx="1576825" cy="648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Анализатор</a:t>
            </a:r>
          </a:p>
          <a:p>
            <a:pPr algn="ctr"/>
            <a:r>
              <a:rPr lang="ru-RU" dirty="0"/>
              <a:t>семантики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FB6FCC8-C1C5-AFE6-E8F2-65C6E5BFEAA6}"/>
              </a:ext>
            </a:extLst>
          </p:cNvPr>
          <p:cNvSpPr/>
          <p:nvPr/>
        </p:nvSpPr>
        <p:spPr>
          <a:xfrm>
            <a:off x="1907704" y="1840348"/>
            <a:ext cx="648072" cy="227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4169B281-5664-920E-D396-335E72428C5A}"/>
              </a:ext>
            </a:extLst>
          </p:cNvPr>
          <p:cNvSpPr/>
          <p:nvPr/>
        </p:nvSpPr>
        <p:spPr>
          <a:xfrm>
            <a:off x="3563888" y="1840348"/>
            <a:ext cx="648072" cy="227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знак завершения 12">
            <a:extLst>
              <a:ext uri="{FF2B5EF4-FFF2-40B4-BE49-F238E27FC236}">
                <a16:creationId xmlns:a16="http://schemas.microsoft.com/office/drawing/2014/main" id="{7B9A02A2-09A4-2FFD-87FB-9E0BFB251285}"/>
              </a:ext>
            </a:extLst>
          </p:cNvPr>
          <p:cNvSpPr/>
          <p:nvPr/>
        </p:nvSpPr>
        <p:spPr>
          <a:xfrm>
            <a:off x="2339752" y="3040936"/>
            <a:ext cx="2585799" cy="7655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Middle-end</a:t>
            </a:r>
            <a:endParaRPr lang="ru-RU" dirty="0"/>
          </a:p>
        </p:txBody>
      </p:sp>
      <p:sp>
        <p:nvSpPr>
          <p:cNvPr id="14" name="Блок-схема: знак завершения 13">
            <a:extLst>
              <a:ext uri="{FF2B5EF4-FFF2-40B4-BE49-F238E27FC236}">
                <a16:creationId xmlns:a16="http://schemas.microsoft.com/office/drawing/2014/main" id="{23393F63-3702-B3BE-4DEF-7B3C1900E714}"/>
              </a:ext>
            </a:extLst>
          </p:cNvPr>
          <p:cNvSpPr/>
          <p:nvPr/>
        </p:nvSpPr>
        <p:spPr>
          <a:xfrm>
            <a:off x="5508104" y="3928688"/>
            <a:ext cx="2585799" cy="7655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Back-end</a:t>
            </a:r>
            <a:endParaRPr lang="ru-RU" dirty="0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16A2E227-D019-8137-7538-F6129E8640A8}"/>
              </a:ext>
            </a:extLst>
          </p:cNvPr>
          <p:cNvSpPr/>
          <p:nvPr/>
        </p:nvSpPr>
        <p:spPr>
          <a:xfrm rot="5400000">
            <a:off x="3351045" y="2654985"/>
            <a:ext cx="467326" cy="30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37B3B770-C18C-31F2-484E-35D48BEFF738}"/>
              </a:ext>
            </a:extLst>
          </p:cNvPr>
          <p:cNvSpPr/>
          <p:nvPr/>
        </p:nvSpPr>
        <p:spPr>
          <a:xfrm rot="1644159">
            <a:off x="4808473" y="3672372"/>
            <a:ext cx="884805" cy="30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69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200" b="0" strike="noStrike" spc="-1" dirty="0">
                <a:solidFill>
                  <a:srgbClr val="FFFFFF"/>
                </a:solidFill>
                <a:latin typeface="Franklin Gothic Book"/>
              </a:rPr>
              <a:t>Представления программы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6A86AA20-8ADB-EC0A-08CD-EBE52CA48FF9}"/>
              </a:ext>
            </a:extLst>
          </p:cNvPr>
          <p:cNvSpPr/>
          <p:nvPr/>
        </p:nvSpPr>
        <p:spPr>
          <a:xfrm>
            <a:off x="232239" y="1108662"/>
            <a:ext cx="1340275" cy="7316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Исходный текст</a:t>
            </a:r>
          </a:p>
        </p:txBody>
      </p:sp>
      <p:sp>
        <p:nvSpPr>
          <p:cNvPr id="7" name="Блок-схема: процесс 6">
            <a:extLst>
              <a:ext uri="{FF2B5EF4-FFF2-40B4-BE49-F238E27FC236}">
                <a16:creationId xmlns:a16="http://schemas.microsoft.com/office/drawing/2014/main" id="{A6A93B90-9633-C1DF-223C-96B96FA8360D}"/>
              </a:ext>
            </a:extLst>
          </p:cNvPr>
          <p:cNvSpPr/>
          <p:nvPr/>
        </p:nvSpPr>
        <p:spPr>
          <a:xfrm>
            <a:off x="1540702" y="2938713"/>
            <a:ext cx="1080120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</a:t>
            </a:r>
          </a:p>
          <a:p>
            <a:pPr algn="ctr"/>
            <a:r>
              <a:rPr lang="ru-RU" dirty="0"/>
              <a:t>токенов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FB6FCC8-C1C5-AFE6-E8F2-65C6E5BFEAA6}"/>
              </a:ext>
            </a:extLst>
          </p:cNvPr>
          <p:cNvSpPr/>
          <p:nvPr/>
        </p:nvSpPr>
        <p:spPr>
          <a:xfrm rot="4174755">
            <a:off x="995780" y="2276251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Блок-схема: процесс 1">
            <a:extLst>
              <a:ext uri="{FF2B5EF4-FFF2-40B4-BE49-F238E27FC236}">
                <a16:creationId xmlns:a16="http://schemas.microsoft.com/office/drawing/2014/main" id="{E866907D-2F2D-1471-6700-FFF2EE9D7404}"/>
              </a:ext>
            </a:extLst>
          </p:cNvPr>
          <p:cNvSpPr/>
          <p:nvPr/>
        </p:nvSpPr>
        <p:spPr>
          <a:xfrm>
            <a:off x="2620822" y="1108662"/>
            <a:ext cx="799050" cy="7316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AST</a:t>
            </a:r>
            <a:endParaRPr lang="ru-RU" dirty="0"/>
          </a:p>
        </p:txBody>
      </p:sp>
      <p:sp>
        <p:nvSpPr>
          <p:cNvPr id="3" name="Блок-схема: процесс 2">
            <a:extLst>
              <a:ext uri="{FF2B5EF4-FFF2-40B4-BE49-F238E27FC236}">
                <a16:creationId xmlns:a16="http://schemas.microsoft.com/office/drawing/2014/main" id="{E962237F-D94D-5DAE-A0FA-E925677D318F}"/>
              </a:ext>
            </a:extLst>
          </p:cNvPr>
          <p:cNvSpPr/>
          <p:nvPr/>
        </p:nvSpPr>
        <p:spPr>
          <a:xfrm>
            <a:off x="3419872" y="2938714"/>
            <a:ext cx="2013419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Аннотированное</a:t>
            </a:r>
            <a:endParaRPr lang="en-US" dirty="0"/>
          </a:p>
          <a:p>
            <a:pPr algn="ctr"/>
            <a:r>
              <a:rPr lang="en-US" dirty="0"/>
              <a:t>AST</a:t>
            </a:r>
            <a:endParaRPr lang="ru-RU" dirty="0"/>
          </a:p>
        </p:txBody>
      </p:sp>
      <p:sp>
        <p:nvSpPr>
          <p:cNvPr id="4" name="Блок-схема: процесс 3">
            <a:extLst>
              <a:ext uri="{FF2B5EF4-FFF2-40B4-BE49-F238E27FC236}">
                <a16:creationId xmlns:a16="http://schemas.microsoft.com/office/drawing/2014/main" id="{0F3219E9-CA5A-5F51-9DED-4028AE38B600}"/>
              </a:ext>
            </a:extLst>
          </p:cNvPr>
          <p:cNvSpPr/>
          <p:nvPr/>
        </p:nvSpPr>
        <p:spPr>
          <a:xfrm>
            <a:off x="5433291" y="1108662"/>
            <a:ext cx="2094630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Промежуточное</a:t>
            </a:r>
          </a:p>
          <a:p>
            <a:pPr algn="ctr"/>
            <a:r>
              <a:rPr lang="ru-RU" dirty="0"/>
              <a:t>представление</a:t>
            </a:r>
          </a:p>
        </p:txBody>
      </p:sp>
      <p:sp>
        <p:nvSpPr>
          <p:cNvPr id="5" name="Блок-схема: процесс 4">
            <a:extLst>
              <a:ext uri="{FF2B5EF4-FFF2-40B4-BE49-F238E27FC236}">
                <a16:creationId xmlns:a16="http://schemas.microsoft.com/office/drawing/2014/main" id="{F4FC33AC-8326-7670-9603-8BB04DB1E65D}"/>
              </a:ext>
            </a:extLst>
          </p:cNvPr>
          <p:cNvSpPr/>
          <p:nvPr/>
        </p:nvSpPr>
        <p:spPr>
          <a:xfrm>
            <a:off x="7515747" y="2934396"/>
            <a:ext cx="1143744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Целевой</a:t>
            </a:r>
          </a:p>
          <a:p>
            <a:pPr algn="ctr"/>
            <a:r>
              <a:rPr lang="ru-RU" dirty="0"/>
              <a:t>код</a:t>
            </a: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CA8FA9CA-15C3-34FA-1186-3F29524F2064}"/>
              </a:ext>
            </a:extLst>
          </p:cNvPr>
          <p:cNvSpPr/>
          <p:nvPr/>
        </p:nvSpPr>
        <p:spPr>
          <a:xfrm rot="4174755">
            <a:off x="3084117" y="2283442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C8BC9011-F6B7-755A-B1C6-47E63D7C33D7}"/>
              </a:ext>
            </a:extLst>
          </p:cNvPr>
          <p:cNvSpPr/>
          <p:nvPr/>
        </p:nvSpPr>
        <p:spPr>
          <a:xfrm rot="4174755">
            <a:off x="7189432" y="2314331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B93F0AF5-D6A1-0061-E34F-3BB891624DB4}"/>
              </a:ext>
            </a:extLst>
          </p:cNvPr>
          <p:cNvSpPr/>
          <p:nvPr/>
        </p:nvSpPr>
        <p:spPr>
          <a:xfrm rot="17820866">
            <a:off x="1973659" y="2261745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EC79C7C6-EAAB-049E-A51F-A497C0C6E6C4}"/>
              </a:ext>
            </a:extLst>
          </p:cNvPr>
          <p:cNvSpPr/>
          <p:nvPr/>
        </p:nvSpPr>
        <p:spPr>
          <a:xfrm rot="17820866">
            <a:off x="4948397" y="2314330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1A8FD-BA7E-69A7-DD16-E725B60233D7}"/>
              </a:ext>
            </a:extLst>
          </p:cNvPr>
          <p:cNvSpPr txBox="1"/>
          <p:nvPr/>
        </p:nvSpPr>
        <p:spPr>
          <a:xfrm>
            <a:off x="609442" y="2210839"/>
            <a:ext cx="92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лексер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CC1285-A811-EB67-693E-D9C4D9FFE419}"/>
              </a:ext>
            </a:extLst>
          </p:cNvPr>
          <p:cNvSpPr txBox="1"/>
          <p:nvPr/>
        </p:nvSpPr>
        <p:spPr>
          <a:xfrm>
            <a:off x="2391033" y="2518079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парсер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EBF611-5B23-6480-B795-A219E30E262B}"/>
              </a:ext>
            </a:extLst>
          </p:cNvPr>
          <p:cNvSpPr txBox="1"/>
          <p:nvPr/>
        </p:nvSpPr>
        <p:spPr>
          <a:xfrm>
            <a:off x="3527136" y="1962086"/>
            <a:ext cx="1798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семантический</a:t>
            </a:r>
          </a:p>
          <a:p>
            <a:pPr algn="ctr"/>
            <a:r>
              <a:rPr lang="ru-RU" dirty="0"/>
              <a:t>анализ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FE53B-4B27-C72B-5410-4126B497CD6F}"/>
              </a:ext>
            </a:extLst>
          </p:cNvPr>
          <p:cNvSpPr txBox="1"/>
          <p:nvPr/>
        </p:nvSpPr>
        <p:spPr>
          <a:xfrm>
            <a:off x="5433288" y="2343901"/>
            <a:ext cx="1547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оптимизатор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B13147-BEC7-DCDE-60D8-79FE9EC60593}"/>
              </a:ext>
            </a:extLst>
          </p:cNvPr>
          <p:cNvSpPr txBox="1"/>
          <p:nvPr/>
        </p:nvSpPr>
        <p:spPr>
          <a:xfrm>
            <a:off x="7703694" y="1767073"/>
            <a:ext cx="126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выходной</a:t>
            </a:r>
          </a:p>
          <a:p>
            <a:pPr algn="ctr"/>
            <a:r>
              <a:rPr lang="ru-RU" dirty="0"/>
              <a:t>генератор</a:t>
            </a:r>
          </a:p>
        </p:txBody>
      </p:sp>
    </p:spTree>
    <p:extLst>
      <p:ext uri="{BB962C8B-B14F-4D97-AF65-F5344CB8AC3E}">
        <p14:creationId xmlns:p14="http://schemas.microsoft.com/office/powerpoint/2010/main" val="30358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Цели семантического анализа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85000" lnSpcReduction="10000"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определение смысла использованных имён в программе и их допустимость в зависимости от контекста;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определение типов выражений;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проверка соблюдения ограничений языка на присваивания, вызовы и управляющие конструкции;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обнаружение ошибок, недоступных парсеру;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подготовка аннотированного дерева синтаксического разбора.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43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Таблица символов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92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Структура данных, которая используется транслятором для хранения информации о конструкциях исходной </a:t>
            </a:r>
            <a:r>
              <a:rPr lang="ru-RU" sz="3000" b="0" strike="noStrike" spc="-1" dirty="0" smtClean="0">
                <a:solidFill>
                  <a:srgbClr val="FFFFFF"/>
                </a:solidFill>
                <a:latin typeface="Arial"/>
              </a:rPr>
              <a:t>программы: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 algn="ctr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(name, kind, shape, mutable, 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declPos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name</a:t>
            </a:r>
            <a:r>
              <a:rPr lang="en-US" sz="3000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имя сущности; 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kind</a:t>
            </a:r>
            <a:r>
              <a:rPr lang="en-US" sz="3000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класс сущности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;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shape</a:t>
            </a:r>
            <a:r>
              <a:rPr lang="en-US" sz="3000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тип или сигнатура сущности;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mutable</a:t>
            </a:r>
            <a:r>
              <a:rPr lang="en-US" sz="3000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допустима ли запись в сущность;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declPos</a:t>
            </a:r>
            <a:r>
              <a:rPr lang="en-US" sz="3000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позиция объявления дл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я диагностики.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523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Область видимости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Часть программы, в которой можно обращаться к конкретному имени: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Глобальная.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Локальная.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Блочная.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Параметров функций.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886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Глубина областей видимости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Стек областей видимости:</a:t>
            </a:r>
          </a:p>
          <a:p>
            <a:pPr marL="36720" algn="ctr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l-GR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Γ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l-GR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Γ</a:t>
            </a:r>
            <a:r>
              <a:rPr lang="en-US" sz="3000" b="1" spc="-1" baseline="-25000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…, </a:t>
            </a:r>
            <a:r>
              <a:rPr lang="el-GR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Γ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36720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Поиск имени выполняется справа налево.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630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Операции над таблицей символов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открыть новую область видимости;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закрыть текущую область;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insert(x, info)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добавить имя 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текущую область;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lookup(x)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найти ближайшее видимое объявление имени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ru-RU" sz="3000" spc="-1" dirty="0" smtClean="0">
                <a:solidFill>
                  <a:srgbClr val="FFFFFF"/>
                </a:solidFill>
                <a:latin typeface="Arial"/>
              </a:rPr>
              <a:t>.</a:t>
            </a:r>
            <a:endParaRPr lang="ru-RU" sz="3000" b="1" strike="noStrike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574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77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push():</a:t>
            </a:r>
            <a:endParaRPr lang="ru-RU" sz="3000" b="1" strike="noStrike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stack.push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({})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insert(name, info):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name in 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stack.top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(): error "duplicate"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stack.top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()[name]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info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lookup(name):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s in reversed(stack):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name in s: return s[name]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error "unknown identifier"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pop(): 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stack.pop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9945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Ширина области видимости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В каких границах текста программы данное объявление считается активным.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  <a:ea typeface="Cambria Math"/>
              </a:rPr>
              <a:t>В разных языках используются разные подходы.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734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Перекрытие имён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Допускает ли язык объявление нового локального имени, совпадающего с уже видимым из внешней области?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282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Атрибуты узлов </a:t>
            </a:r>
            <a:r>
              <a:rPr lang="en-US" sz="4600" b="0" strike="noStrike" spc="-1" dirty="0">
                <a:solidFill>
                  <a:srgbClr val="FFFFFF"/>
                </a:solidFill>
                <a:latin typeface="Franklin Gothic Book"/>
              </a:rPr>
              <a:t>AST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ссылка на запись таблицы символов для идентификатора;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тип выражения или сорт предиката;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позиц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и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я исходного токена или диапазон текста;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служебный флаг (например: «это 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lvalue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», «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эта сущность доступна только для чтения»).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5524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Атрибутные грамматики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925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Контекстно-свободная грамматика, в которой: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каждому грамматическому символу сопоставлено конечное множество атрибутов;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каждой продукции сопоставлен набор семантических правил, вычисляющих значения атрибутов узла и его потомков.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Тем самым в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AST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задаётся система зависимостей между значениями атрибутов.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0163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Классы атрибутов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lnSpcReduction="10000"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синтезируемый атрибут вычисляется снизу вверх из атрибутов дочерних узлов (например, тип выражения);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наследуемый атрибут передаётся к узлу сверху или сбоку, из родителя и его окружения (например: окружение имён, находимся ли мы внутри цикла, ожидаемый тип левой части присваивания).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502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Обходы </a:t>
            </a:r>
            <a:r>
              <a:rPr lang="en-US" sz="4600" b="0" strike="noStrike" spc="-1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Franklin Gothic Book"/>
              </a:rPr>
              <a:t>AST</a:t>
            </a:r>
            <a:endParaRPr lang="ru-RU" sz="4600" b="0" strike="noStrike" spc="-1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постфиксный для выражений;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префиксный для сбора объявлений.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662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Организация обходов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85000" lnSpcReduction="2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Сбор сигнатур функций и формул на модульном уровне.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Проверка контрактов и тел функций с разрешением имён.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Типизация выражений, условий и присваиваний.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Проверка специальных инвариантов (например: запрет записи в параметры и корректность множественных возвратов).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Анализ определённости локальных и возвращаемых переменных.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597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Диагностика ошибок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AutoNum type="arabicPeriod"/>
            </a:pPr>
            <a:r>
              <a:rPr lang="ru-RU" sz="2300" spc="-1" dirty="0">
                <a:solidFill>
                  <a:srgbClr val="FFFFFF"/>
                </a:solidFill>
                <a:latin typeface="Arial"/>
              </a:rPr>
              <a:t>Каждая ошибка должна ссылаться на конкретную позицию в исходном тексте. Поэтому в AST и в записях таблицы символов нужно сохранять координаты токенов.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AutoNum type="arabicPeriod"/>
            </a:pPr>
            <a:r>
              <a:rPr lang="ru-RU" sz="2300" spc="-1" dirty="0">
                <a:solidFill>
                  <a:srgbClr val="FFFFFF"/>
                </a:solidFill>
                <a:latin typeface="Arial"/>
              </a:rPr>
              <a:t>После локальной ошибки анализ желательно продолжать. Для этого удобно вводить специальную ошибочную метку типа </a:t>
            </a:r>
            <a:r>
              <a:rPr lang="en-US" sz="23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error</a:t>
            </a:r>
            <a:r>
              <a:rPr lang="ru-RU" sz="2300" spc="-1" dirty="0">
                <a:solidFill>
                  <a:srgbClr val="FFFFFF"/>
                </a:solidFill>
                <a:latin typeface="Arial"/>
              </a:rPr>
              <a:t>, которая позволяет не прекращать обход немедленно</a:t>
            </a:r>
            <a:r>
              <a:rPr lang="en-US" sz="2300" spc="-1" dirty="0">
                <a:solidFill>
                  <a:srgbClr val="FFFFFF"/>
                </a:solidFill>
                <a:latin typeface="Arial"/>
              </a:rPr>
              <a:t> (</a:t>
            </a:r>
            <a:r>
              <a:rPr lang="ru-RU" sz="2300" spc="-1" dirty="0">
                <a:solidFill>
                  <a:srgbClr val="FFFFFF"/>
                </a:solidFill>
                <a:latin typeface="Arial"/>
              </a:rPr>
              <a:t>например: если имя неизвестно, узел всё равно можно пометить как </a:t>
            </a:r>
            <a:r>
              <a:rPr lang="en-US" sz="23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error</a:t>
            </a:r>
            <a:r>
              <a:rPr lang="ru-RU" sz="2300" spc="-1" dirty="0">
                <a:solidFill>
                  <a:srgbClr val="FFFFFF"/>
                </a:solidFill>
                <a:latin typeface="Arial"/>
              </a:rPr>
              <a:t> и продолжить типизацию родительского выражения, не теряя остальные ошибки в файле).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796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Семантика типов данных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70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Обычно, семантика типа данных в сущности есть смысл рассматриваемого типа, в противоположность синтаксису как форме представления. Неформально семантика типа данных включает в себя два компонента: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множество объектов, которое представляет значения рассматриваемого типа данных;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множество операций, которые могут применяться к объектам данного типа данных.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Для точного описания нотации семантики типов данных требуется ввести понятие так называемой </a:t>
            </a:r>
            <a:r>
              <a:rPr lang="ru-RU" sz="3200" b="0" strike="noStrike" spc="-1" dirty="0" err="1">
                <a:solidFill>
                  <a:srgbClr val="FFFFFF"/>
                </a:solidFill>
                <a:latin typeface="Arial"/>
              </a:rPr>
              <a:t>многосортной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сигнатуры и </a:t>
            </a:r>
            <a:r>
              <a:rPr lang="ru-RU" sz="3200" b="0" strike="noStrike" spc="-1" dirty="0" err="1">
                <a:solidFill>
                  <a:srgbClr val="FFFFFF"/>
                </a:solidFill>
                <a:latin typeface="Arial"/>
              </a:rPr>
              <a:t>многосортной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структуры.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6752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Сорта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92500" lnSpcReduction="10000"/>
          </a:bodyPr>
          <a:lstStyle/>
          <a:p>
            <a:pPr marL="420480" indent="-38376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Понятие сорта в математической логике в основном совпадает с понятием типа в программировании. Оно используется для различения разновидностей объектов, что бы это ни означало.</a:t>
            </a:r>
          </a:p>
          <a:p>
            <a:pPr marL="420480" indent="-38376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Итак, начнём с множества символов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 которое называется множеством сортов и не имеет внутренней структуры.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157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 err="1">
                <a:solidFill>
                  <a:srgbClr val="FFFFFF"/>
                </a:solidFill>
                <a:latin typeface="Franklin Gothic Book"/>
              </a:rPr>
              <a:t>Многосортные</a:t>
            </a: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 символы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625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Arial"/>
              </a:rPr>
              <a:t>Опр.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Пусть дано множество символов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0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s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…,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∈ S, n ⩾ 0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Слово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…,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⟶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0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	называется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функциональным </a:t>
            </a:r>
            <a:r>
              <a:rPr lang="ru-RU" sz="32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символом.</a:t>
            </a: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spc="-1" dirty="0">
                <a:solidFill>
                  <a:srgbClr val="FFFFFF"/>
                </a:solidFill>
                <a:latin typeface="Arial"/>
                <a:ea typeface="Cambria Math"/>
              </a:rPr>
              <a:t>	</a:t>
            </a:r>
            <a:r>
              <a:rPr lang="ru-RU" sz="32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Число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n </a:t>
            </a:r>
            <a:r>
              <a:rPr lang="ru-RU" sz="3200" b="0" strike="noStrike" spc="-1" dirty="0" err="1">
                <a:solidFill>
                  <a:srgbClr val="FFFFFF"/>
                </a:solidFill>
                <a:latin typeface="Arial"/>
                <a:ea typeface="Cambria Math"/>
              </a:rPr>
              <a:t>называеся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местностью (арностью) символа.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Заметим, что обычное обозначение предиката можно представить как функциональный символ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…,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3200" b="1" strike="noStrike" spc="-1" baseline="-25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⟶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bool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	где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bool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это сорт двузначной булевой алгебры. Таким образом, мы не используем явно отдельную конструкцию для предикатов. Нульместные функциональные символы называется константами. Обозначим множество всех функциональных символов над множеством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через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Fn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(S)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475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 err="1">
                <a:solidFill>
                  <a:srgbClr val="FFFFFF"/>
                </a:solidFill>
                <a:latin typeface="Franklin Gothic Book"/>
              </a:rPr>
              <a:t>Многосортные</a:t>
            </a: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 структуры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20480" indent="-383760">
              <a:lnSpc>
                <a:spcPct val="100000"/>
              </a:lnSpc>
              <a:spcBef>
                <a:spcPts val="380"/>
              </a:spcBef>
              <a:tabLst>
                <a:tab pos="0" algn="l"/>
              </a:tabLst>
            </a:pPr>
            <a:r>
              <a:rPr lang="ru-RU" sz="2100" b="1" strike="noStrike" spc="-1" dirty="0">
                <a:solidFill>
                  <a:srgbClr val="F7DF56"/>
                </a:solidFill>
                <a:latin typeface="Arial"/>
              </a:rPr>
              <a:t>Опр.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</a:rPr>
              <a:t> Пусть дано множество сортов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r>
              <a:rPr lang="en-US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Сигнатура структуры над этими сортами это отображение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80"/>
              </a:spcBef>
              <a:tabLst>
                <a:tab pos="0" algn="l"/>
              </a:tabLst>
            </a:pPr>
            <a:r>
              <a:rPr lang="el-GR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σ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: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F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⟶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1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Fn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(S)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80"/>
              </a:spcBef>
              <a:tabLst>
                <a:tab pos="0" algn="l"/>
              </a:tabLst>
            </a:pPr>
            <a:r>
              <a:rPr lang="ru-RU" sz="21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	где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F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это множество символов.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80"/>
              </a:spcBef>
              <a:tabLst>
                <a:tab pos="0" algn="l"/>
              </a:tabLst>
            </a:pPr>
            <a:r>
              <a:rPr lang="ru-RU" sz="2100" b="1" strike="noStrike" spc="-1" dirty="0">
                <a:solidFill>
                  <a:srgbClr val="F7DF56"/>
                </a:solidFill>
                <a:latin typeface="Arial"/>
                <a:ea typeface="Cambria Math"/>
              </a:rPr>
              <a:t>Опр.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2100" b="0" strike="noStrike" spc="-1" dirty="0" err="1">
                <a:solidFill>
                  <a:srgbClr val="FFFFFF"/>
                </a:solidFill>
                <a:latin typeface="Arial"/>
                <a:ea typeface="Cambria Math"/>
              </a:rPr>
              <a:t>Многосортная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структура сигнатуры </a:t>
            </a:r>
            <a:r>
              <a:rPr lang="el-GR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σ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это пара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M = (D, I)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 где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715963" indent="-357188">
              <a:lnSpc>
                <a:spcPct val="100000"/>
              </a:lnSpc>
              <a:spcBef>
                <a:spcPts val="38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  <a:tab pos="715963" algn="l"/>
              </a:tabLst>
            </a:pP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 = {D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| s ∈ S} </a:t>
            </a:r>
            <a:r>
              <a:rPr lang="en-US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множество доменов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M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715963" indent="-357188">
              <a:lnSpc>
                <a:spcPct val="100000"/>
              </a:lnSpc>
              <a:spcBef>
                <a:spcPts val="38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  <a:tab pos="715963" algn="l"/>
              </a:tabLst>
            </a:pP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 = {</a:t>
            </a:r>
            <a:r>
              <a:rPr lang="en-US" sz="21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f</a:t>
            </a:r>
            <a:r>
              <a:rPr lang="en-US" sz="2100" b="1" strike="noStrike" spc="-1" baseline="30000" dirty="0" err="1">
                <a:solidFill>
                  <a:srgbClr val="F7DF56"/>
                </a:solidFill>
                <a:latin typeface="Cambria Math"/>
                <a:ea typeface="Cambria Math"/>
              </a:rPr>
              <a:t>M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| f ∈ F} </a:t>
            </a:r>
            <a:r>
              <a:rPr lang="en-US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интерпретация символов сигнатуры </a:t>
            </a:r>
            <a:r>
              <a:rPr lang="el-GR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σ</a:t>
            </a:r>
            <a:r>
              <a:rPr lang="ru-RU" sz="21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,</a:t>
            </a:r>
          </a:p>
          <a:p>
            <a:pPr marL="358775">
              <a:lnSpc>
                <a:spcPct val="100000"/>
              </a:lnSpc>
              <a:spcBef>
                <a:spcPts val="380"/>
              </a:spcBef>
              <a:buClr>
                <a:srgbClr val="6EA0B0"/>
              </a:buClr>
              <a:buSzPct val="80000"/>
              <a:tabLst>
                <a:tab pos="0" algn="l"/>
                <a:tab pos="715963" algn="l"/>
              </a:tabLst>
            </a:pPr>
            <a:r>
              <a:rPr lang="ru-RU" sz="2100" spc="-1" dirty="0">
                <a:solidFill>
                  <a:srgbClr val="FFFFFF"/>
                </a:solidFill>
                <a:latin typeface="Arial"/>
                <a:ea typeface="Cambria Math"/>
              </a:rPr>
              <a:t>	</a:t>
            </a:r>
            <a:r>
              <a:rPr lang="ru-RU" sz="21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а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именно, если </a:t>
            </a:r>
            <a:r>
              <a:rPr lang="el-GR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σ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f) = s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…, s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⟶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0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 то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715963" indent="-357188" algn="ctr">
              <a:lnSpc>
                <a:spcPct val="100000"/>
              </a:lnSpc>
              <a:spcBef>
                <a:spcPts val="380"/>
              </a:spcBef>
              <a:tabLst>
                <a:tab pos="0" algn="l"/>
                <a:tab pos="715963" algn="l"/>
              </a:tabLst>
            </a:pPr>
            <a:r>
              <a:rPr lang="en-US" sz="21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f</a:t>
            </a:r>
            <a:r>
              <a:rPr lang="en-US" sz="2100" b="1" strike="noStrike" spc="-1" baseline="30000" dirty="0" err="1">
                <a:solidFill>
                  <a:srgbClr val="F7DF56"/>
                </a:solidFill>
                <a:latin typeface="Cambria Math"/>
                <a:ea typeface="Cambria Math"/>
              </a:rPr>
              <a:t>M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: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2100" b="1" strike="noStrike" spc="-1" baseline="-50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⨯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D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ru-RU" sz="2100" b="1" strike="noStrike" spc="-1" baseline="-50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ru-RU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⨯ … ⨯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1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n-US" sz="2100" b="1" strike="noStrike" spc="-1" baseline="-25000" dirty="0" err="1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2100" b="1" strike="noStrike" spc="-1" baseline="-50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⟶ D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2100" b="1" strike="noStrike" spc="-1" baseline="-50000" dirty="0">
                <a:solidFill>
                  <a:srgbClr val="F7DF56"/>
                </a:solidFill>
                <a:latin typeface="Cambria Math"/>
                <a:ea typeface="Cambria Math"/>
              </a:rPr>
              <a:t>0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80"/>
              </a:spcBef>
              <a:tabLst>
                <a:tab pos="0" algn="l"/>
              </a:tabLst>
            </a:pPr>
            <a:r>
              <a:rPr lang="ru-RU" sz="21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	это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функция, отображающая кортежи элементов из доменов </a:t>
            </a:r>
            <a:r>
              <a:rPr lang="ru-RU" sz="2100" b="0" strike="noStrike" spc="-1" dirty="0" smtClean="0">
                <a:solidFill>
                  <a:srgbClr val="FFFFFF"/>
                </a:solidFill>
                <a:latin typeface="Arial"/>
                <a:ea typeface="Cambria Math"/>
              </a:rPr>
              <a:t>соответствующих 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сортов в домен сорта </a:t>
            </a:r>
            <a:r>
              <a:rPr lang="en-US" sz="21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</a:t>
            </a:r>
            <a:r>
              <a:rPr lang="en-US" sz="21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0</a:t>
            </a:r>
            <a:r>
              <a:rPr lang="ru-RU" sz="21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2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0668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Семантика типов данных </a:t>
            </a:r>
            <a:r>
              <a:rPr lang="en-US" sz="4600" b="0" strike="noStrike" spc="-1" dirty="0">
                <a:solidFill>
                  <a:srgbClr val="FFFFFF"/>
                </a:solidFill>
                <a:latin typeface="Franklin Gothic Book"/>
              </a:rPr>
              <a:t>Funny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775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439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Arial"/>
              </a:rPr>
              <a:t>Опр.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Пусть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Type</a:t>
            </a:r>
            <a:r>
              <a:rPr lang="en-US" sz="3200" b="1" strike="noStrike" spc="-1" baseline="30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множество типов 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Funny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 Каждому</a:t>
            </a:r>
            <a:endParaRPr lang="en-US" sz="3200" b="0" strike="noStrike" spc="-1" dirty="0">
              <a:solidFill>
                <a:srgbClr val="FFFFFF"/>
              </a:solidFill>
              <a:latin typeface="Arial"/>
              <a:ea typeface="Cambria Math"/>
            </a:endParaRPr>
          </a:p>
          <a:p>
            <a:pPr marL="420480" indent="-383760">
              <a:lnSpc>
                <a:spcPct val="100000"/>
              </a:lnSpc>
              <a:spcBef>
                <a:spcPts val="439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FFFFFF"/>
                </a:solidFill>
                <a:latin typeface="Arial"/>
                <a:ea typeface="Cambria Math"/>
              </a:rPr>
              <a:t>	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∈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Type</a:t>
            </a:r>
            <a:r>
              <a:rPr lang="en-US" sz="3200" b="1" strike="noStrike" spc="-1" baseline="30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сопоставим некоторое множество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l-GR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по индукции: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808038" indent="-449263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n-US" sz="3200" b="1" strike="noStrike" spc="-1" baseline="-25000" dirty="0" err="1">
                <a:solidFill>
                  <a:srgbClr val="F7DF56"/>
                </a:solidFill>
                <a:latin typeface="Cambria Math"/>
                <a:ea typeface="Cambria Math"/>
              </a:rPr>
              <a:t>bool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{false, true}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булевские значения;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808038" indent="-449263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ℤ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множество целых чисел;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808038" indent="-449263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[</a:t>
            </a:r>
            <a:r>
              <a:rPr lang="el-GR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]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{(v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v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…,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en-US" sz="3200" b="1" strike="noStrike" spc="-1" baseline="-25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 | v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i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∈ D</a:t>
            </a:r>
            <a:r>
              <a:rPr lang="el-GR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n ∈ ℕ}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множество всех последовательностей элементов произвольной длины из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l-GR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39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Множество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n-US" sz="3200" b="1" strike="noStrike" spc="-1" baseline="30000" dirty="0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{D</a:t>
            </a:r>
            <a:r>
              <a:rPr lang="el-GR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|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∈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Type</a:t>
            </a:r>
            <a:r>
              <a:rPr lang="en-US" sz="3200" b="1" strike="noStrike" spc="-1" baseline="30000" dirty="0" err="1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}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это множество доменов соответствующих типов 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Funny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 Элементы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</a:t>
            </a:r>
            <a:r>
              <a:rPr lang="el-GR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τ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называются значениями типа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9057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Семантика типов данных </a:t>
            </a:r>
            <a:r>
              <a:rPr lang="en-US" sz="4600" b="0" strike="noStrike" spc="-1" dirty="0">
                <a:solidFill>
                  <a:srgbClr val="FFFFFF"/>
                </a:solidFill>
                <a:latin typeface="Franklin Gothic Book"/>
              </a:rPr>
              <a:t>Funny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625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Arial"/>
              </a:rPr>
              <a:t>Опр.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Семантикой типов данных 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Funny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называется </a:t>
            </a:r>
            <a:r>
              <a:rPr lang="ru-RU" sz="3200" b="0" strike="noStrike" spc="-1" dirty="0" err="1">
                <a:solidFill>
                  <a:srgbClr val="FFFFFF"/>
                </a:solidFill>
                <a:latin typeface="Arial"/>
              </a:rPr>
              <a:t>многосортная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структура</a:t>
            </a: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M</a:t>
            </a:r>
            <a:r>
              <a:rPr lang="en-US" sz="3200" b="1" strike="noStrike" spc="-1" baseline="30000" dirty="0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{D</a:t>
            </a:r>
            <a:r>
              <a:rPr lang="en-US" sz="3200" b="1" strike="noStrike" spc="-1" baseline="30000" dirty="0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I</a:t>
            </a:r>
            <a:r>
              <a:rPr lang="en-US" sz="3200" b="1" strike="noStrike" spc="-1" baseline="30000" dirty="0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}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где сигнатура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σ</a:t>
            </a:r>
            <a:r>
              <a:rPr lang="en-US" sz="3200" b="1" strike="noStrike" spc="-1" baseline="30000" dirty="0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состоит из: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бинарных операций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+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-, *, /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сигнатуры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int, int) ⟶ int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унарной операции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-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сигнатуры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int) ⟶ int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бинарных предикатов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&lt;, &gt;, &lt;=, &gt;=, ==, !=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сигнатуры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int, int) ⟶ bool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для каждого типа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720720" indent="-36324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операция доступа к элементам массива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app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сигнатуры</a:t>
            </a:r>
            <a:endParaRPr lang="en-US" sz="3200" spc="-1" dirty="0">
              <a:solidFill>
                <a:srgbClr val="FFFFFF"/>
              </a:solidFill>
              <a:latin typeface="Arial"/>
              <a:ea typeface="Cambria Math"/>
            </a:endParaRPr>
          </a:p>
          <a:p>
            <a:pPr marL="35748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FFFFF"/>
                </a:solidFill>
                <a:latin typeface="Arial"/>
                <a:ea typeface="Cambria Math"/>
              </a:rPr>
              <a:t>	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[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], int) ⟶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720720" indent="-36324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операция изменения элементов массива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set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сигнатуры</a:t>
            </a:r>
            <a:endParaRPr lang="en-US" sz="3200" b="0" strike="noStrike" spc="-1" dirty="0">
              <a:solidFill>
                <a:srgbClr val="FFFFFF"/>
              </a:solidFill>
              <a:latin typeface="Arial"/>
              <a:ea typeface="Cambria Math"/>
            </a:endParaRPr>
          </a:p>
          <a:p>
            <a:pPr marL="35748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tabLst>
                <a:tab pos="0" algn="l"/>
              </a:tabLst>
            </a:pPr>
            <a:r>
              <a:rPr lang="en-US" sz="3200" spc="-1" dirty="0">
                <a:solidFill>
                  <a:srgbClr val="FFFFFF"/>
                </a:solidFill>
                <a:latin typeface="Arial"/>
                <a:ea typeface="Cambria Math"/>
              </a:rPr>
              <a:t>	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[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], int,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 ⟶ [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]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720720" indent="-36324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операция получения длины массива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length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сигнатуры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[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τ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]) ⟶ int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9979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100" b="0" strike="noStrike" spc="-1" dirty="0">
                <a:solidFill>
                  <a:srgbClr val="FFFFFF"/>
                </a:solidFill>
                <a:latin typeface="Franklin Gothic Book"/>
              </a:rPr>
              <a:t>Аксиоматическая семантика системы типов </a:t>
            </a:r>
            <a:r>
              <a:rPr lang="en-US" sz="3100" b="0" strike="noStrike" spc="-1" dirty="0">
                <a:solidFill>
                  <a:srgbClr val="FFFFFF"/>
                </a:solidFill>
                <a:latin typeface="Franklin Gothic Book"/>
              </a:rPr>
              <a:t>Funny</a:t>
            </a:r>
            <a:endParaRPr lang="ru-RU" sz="3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70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Хотя математическая семантика типов данных полезна для человека при рассуждениях о значениях, которые возникают в компьютерных языках (программирования), она может не подойти нам, когда мы хотим использовать автоматические средства доказательства теорем для работы с элементами языка. В этом случае мы бы хотели переопределить семантику в форме, более удобной для автоматического вывода теорем. Такое представление называется аксиоматической семантикой и фактически является множеством аксиом и правил вывода, описывающих пути, по которым преобразуются значения в целевом языке.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2217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100" b="0" strike="noStrike" spc="-1" dirty="0">
                <a:solidFill>
                  <a:srgbClr val="FFFFFF"/>
                </a:solidFill>
                <a:latin typeface="Franklin Gothic Book"/>
              </a:rPr>
              <a:t>Аксиоматическая семантика системы типов </a:t>
            </a:r>
            <a:r>
              <a:rPr lang="en-US" sz="3100" b="0" strike="noStrike" spc="-1" dirty="0">
                <a:solidFill>
                  <a:srgbClr val="FFFFFF"/>
                </a:solidFill>
                <a:latin typeface="Franklin Gothic Book"/>
              </a:rPr>
              <a:t>Funny</a:t>
            </a:r>
            <a:endParaRPr lang="ru-RU" sz="3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459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Система типов 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Funny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состоит из:</a:t>
            </a:r>
          </a:p>
          <a:p>
            <a:pPr marL="420480" indent="-383760">
              <a:lnSpc>
                <a:spcPct val="100000"/>
              </a:lnSpc>
              <a:spcBef>
                <a:spcPts val="459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bool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59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59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[int]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массивы со значениями типа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0379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300" b="0" strike="noStrike" spc="-1" dirty="0">
                <a:solidFill>
                  <a:srgbClr val="FFFFFF"/>
                </a:solidFill>
                <a:latin typeface="Franklin Gothic Book"/>
              </a:rPr>
              <a:t>Аксиоматическая семантика булевых значений</a:t>
            </a:r>
            <a:endParaRPr lang="ru-RU" sz="3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70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Для определения аксиоматической семантики булевых значений достаточно аксиом булевой алгебры сигнатуры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∧, ∨,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¬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false, </a:t>
            </a: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true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(a ∧ b) ∧ c = a ∧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(b ∧ c)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(a ∨ b) ∨ c = a ∨ (b ∨ c)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ассоциативность;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 b = b ∧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∨ b = b ∨ a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коммутативность;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∨ b) = a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∨ (a ∧ b) = a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поглощение;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a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∨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0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a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— тождественность;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∨ c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∨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 c)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∨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∧ c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∨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∧ c)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дистрибутивность;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∧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¬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= false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противоречие;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∨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¬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= true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— закон исключённого третьего.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5619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b="0" strike="noStrike" spc="-1" dirty="0">
                <a:solidFill>
                  <a:srgbClr val="FFFFFF"/>
                </a:solidFill>
                <a:latin typeface="Franklin Gothic Book"/>
              </a:rPr>
              <a:t>Аксиоматическая семантика натуральных чисел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70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Классический подход определения семантики натуральных чисел — аксиомы Пеано в сигнатуре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s, +, *, 0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∀y ((s(x) = s(y)) ⟶ (x = y))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¬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(s(x) = 0)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(x + 0 = x)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∀y (x + s(y) = s(x + y))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(x * 0 = 0)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∀y (x * s(y) = x * y + x)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и правило вывода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(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метод математической индукции):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(0)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(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⟶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(s(x)))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07442DAE-F763-2AE3-6F42-C7DDB8840D9F}"/>
              </a:ext>
            </a:extLst>
          </p:cNvPr>
          <p:cNvSpPr/>
          <p:nvPr/>
        </p:nvSpPr>
        <p:spPr>
          <a:xfrm>
            <a:off x="2692172" y="4493106"/>
            <a:ext cx="381642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714633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Семантика целых чисел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55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Для определения семантики целых чисел добавим предикат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nat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 который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выделяет натуральные числа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ℕ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среди целых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ℤ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, и унарный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-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 Модифицируем аксиомы Пеано: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∀y ((s(x) = s(y)) ⟶ (x = y))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(s(x) = 0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⟶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¬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nat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(x))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(x + 0 = x)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∀y (x + s(y) = s(x + y))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(x * 0 = 0)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∀y (x * s(y) = x * y + x)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(x + (-x) = 0)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nat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(x) ∨ 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nat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(-x))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и правило вывода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(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метод математической индукции):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(0)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(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⟶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(s(x)))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 algn="ct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∀x (</a:t>
            </a:r>
            <a:r>
              <a:rPr lang="en-US" sz="32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nat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(x) ⟶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l-GR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φ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07442DAE-F763-2AE3-6F42-C7DDB8840D9F}"/>
              </a:ext>
            </a:extLst>
          </p:cNvPr>
          <p:cNvSpPr/>
          <p:nvPr/>
        </p:nvSpPr>
        <p:spPr>
          <a:xfrm>
            <a:off x="2699792" y="4587974"/>
            <a:ext cx="381642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805002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Операционная семантика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70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В общем виде операционная семантика — это вид семантики, который близок к реализации языка. По отношению к операционной семантике типов данных 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Funny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это означает: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множество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{false, true}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является доменом, булевы операции — таблицы истинности для типа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bool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целые в двоичном формате (т. е. слова алфавита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{0, 1}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) и стандартные арифметические алгоритмы для целочисленных операций в двоичном представлении для типа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buClr>
                <a:srgbClr val="6EA0B0"/>
              </a:buClr>
              <a:buSzPct val="80000"/>
              <a:buFont typeface="Wingdings 2" charset="2"/>
              <a:buChar char="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  <a:ea typeface="Cambria Math"/>
              </a:rPr>
              <a:t>произвольные конечные последовательности и операции с последовательностями для массивов.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122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900" spc="-1" dirty="0">
                <a:solidFill>
                  <a:srgbClr val="FFFFFF"/>
                </a:solidFill>
                <a:latin typeface="Franklin Gothic Book"/>
              </a:rPr>
              <a:t>Правила типизации выражений в </a:t>
            </a:r>
            <a:r>
              <a:rPr lang="en-US" sz="3900" spc="-1" dirty="0">
                <a:solidFill>
                  <a:srgbClr val="FFFFFF"/>
                </a:solidFill>
                <a:latin typeface="Franklin Gothic Book"/>
              </a:rPr>
              <a:t>Funny</a:t>
            </a:r>
            <a:endParaRPr lang="ru-RU" sz="39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625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Литерал: тип определён сразу.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Бинарные операции: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 • int ⟶ int,</a:t>
            </a:r>
            <a:endParaRPr lang="ru-RU" sz="32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• ∈ {+, -, *, /}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2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Массивы: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[int]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⟶ int, length(int[int]) ⟶ int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Вызовы функций: проверка количества аргументов, их типов.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FFFFFF"/>
                </a:solidFill>
                <a:latin typeface="Arial"/>
              </a:rPr>
              <a:t>	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Тип результата — возвращаемый функцией тип.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Сравнения: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 • int ⟶ bool,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• ∈ {</a:t>
            </a: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&lt;, &gt;, &lt;=, &gt;=, ==, !=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}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Условия в </a:t>
            </a: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while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 if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: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bool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2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Присваивание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= e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: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разрешается в соответствующую запись таблицы символов, которая должна быть доступна для записи, тип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совпадает с типом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6063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200" spc="-1" dirty="0">
                <a:solidFill>
                  <a:srgbClr val="FFFFFF"/>
                </a:solidFill>
                <a:latin typeface="Franklin Gothic Book"/>
              </a:rPr>
              <a:t>Вывод типов на основе ограничений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551070" indent="-514350"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Каждому неизвестному месту сопоставляется переменная типа.</a:t>
            </a:r>
          </a:p>
          <a:p>
            <a:pPr marL="551070" indent="-514350"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Порождение равенств для выражений, массивов, функций.</a:t>
            </a:r>
            <a:endParaRPr lang="ru-RU" sz="3200" spc="-1" dirty="0">
              <a:solidFill>
                <a:srgbClr val="FFFFFF"/>
              </a:solidFill>
              <a:latin typeface="Arial"/>
            </a:endParaRPr>
          </a:p>
          <a:p>
            <a:pPr marL="551070" indent="-514350"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Унификация строит наиболее общее согласованное решение.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4275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3672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f(1 + 2, x)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3672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FFFFFF"/>
                </a:solidFill>
                <a:latin typeface="Arial"/>
              </a:rPr>
              <a:t>	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тип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1 + 2</a:t>
            </a:r>
            <a:r>
              <a:rPr lang="ru-RU" sz="3200" b="1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—</a:t>
            </a: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	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ищем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f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(int, T) ⟶ R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	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унифицируем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 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с типом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, получаем 	ограни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чения;</a:t>
            </a:r>
          </a:p>
          <a:p>
            <a:pPr marL="3672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	тип всего выражения —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1930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Возвраты в функциях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все пути должны возвращать значение для непустых функций;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проверка достижимости: простой анализ (есть ли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 на всех ветках)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;</a:t>
            </a:r>
            <a:endParaRPr lang="ru-RU" sz="32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-функции: не возвращают значение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недостижимый код после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 —  предупреждение.</a:t>
            </a:r>
            <a:endParaRPr lang="en-US" sz="32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5. Семантический анализ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98107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3687</TotalTime>
  <Words>2280</Words>
  <Application>Microsoft Office PowerPoint</Application>
  <PresentationFormat>Экран (16:9)</PresentationFormat>
  <Paragraphs>259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Aptos</vt:lpstr>
      <vt:lpstr>Arial</vt:lpstr>
      <vt:lpstr>Cambria Math</vt:lpstr>
      <vt:lpstr>Franklin Gothic Book</vt:lpstr>
      <vt:lpstr>Times New Roman</vt:lpstr>
      <vt:lpstr>Wingdings 2</vt:lpstr>
      <vt:lpstr>Техническая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НГУ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Трансляция и верификация предметно-ориентированных языков</dc:title>
  <dc:subject>Лекция 05</dc:subject>
  <dc:creator>Марьясов И. В.; Злыгостев А. И</dc:creator>
  <dc:description/>
  <cp:lastModifiedBy>Def</cp:lastModifiedBy>
  <cp:revision>668</cp:revision>
  <dcterms:created xsi:type="dcterms:W3CDTF">2022-09-13T16:50:05Z</dcterms:created>
  <dcterms:modified xsi:type="dcterms:W3CDTF">2026-10-27T02:41:03Z</dcterms:modified>
  <cp:category>Семантический анализ</cp:category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IVM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Экран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26</vt:i4>
  </property>
</Properties>
</file>